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atnakmri/Seasonal-Agriculture-Projec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134238" y="4143428"/>
            <a:ext cx="6008137" cy="861497"/>
          </a:xfrm>
        </p:spPr>
        <p:txBody>
          <a:bodyPr vert="horz" lIns="91440" tIns="45720" rIns="91440" bIns="45720" rtlCol="0" anchor="t">
            <a:normAutofit/>
          </a:bodyPr>
          <a:lstStyle/>
          <a:p>
            <a:r>
              <a:rPr lang="en-IN" b="0" dirty="0">
                <a:solidFill>
                  <a:schemeClr val="tx1"/>
                </a:solidFill>
                <a:latin typeface="Aparajita" panose="02020603050405020304" pitchFamily="18" charset="0"/>
                <a:cs typeface="Aparajita" panose="02020603050405020304" pitchFamily="18" charset="0"/>
              </a:rPr>
              <a:t>Student Name: </a:t>
            </a:r>
            <a:r>
              <a:rPr lang="en-IN" b="0" dirty="0" err="1">
                <a:solidFill>
                  <a:schemeClr val="tx1"/>
                </a:solidFill>
                <a:latin typeface="Aparajita" panose="02020603050405020304" pitchFamily="18" charset="0"/>
                <a:cs typeface="Aparajita" panose="02020603050405020304" pitchFamily="18" charset="0"/>
              </a:rPr>
              <a:t>Gurija</a:t>
            </a:r>
            <a:r>
              <a:rPr lang="en-IN" b="0" dirty="0">
                <a:solidFill>
                  <a:schemeClr val="tx1"/>
                </a:solidFill>
                <a:latin typeface="Aparajita" panose="02020603050405020304" pitchFamily="18" charset="0"/>
                <a:cs typeface="Aparajita" panose="02020603050405020304" pitchFamily="18" charset="0"/>
              </a:rPr>
              <a:t> Venkata Ratna Kumari</a:t>
            </a:r>
          </a:p>
          <a:p>
            <a:r>
              <a:rPr lang="en-IN" b="0" dirty="0">
                <a:solidFill>
                  <a:schemeClr val="tx1"/>
                </a:solidFill>
                <a:latin typeface="Aparajita" panose="02020603050405020304" pitchFamily="18" charset="0"/>
                <a:cs typeface="Aparajita" panose="02020603050405020304" pitchFamily="18" charset="0"/>
              </a:rPr>
              <a:t>College Name: Andhra University College Of Engineering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231641" y="2912050"/>
            <a:ext cx="7426960" cy="743448"/>
          </a:xfrm>
        </p:spPr>
        <p:txBody>
          <a:bodyPr>
            <a:normAutofit fontScale="90000"/>
          </a:bodyPr>
          <a:lstStyle/>
          <a:p>
            <a:pPr algn="r"/>
            <a:r>
              <a:rPr lang="en-GB" sz="3200" dirty="0">
                <a:latin typeface="Algerian" panose="04020705040A02060702" pitchFamily="82" charset="0"/>
              </a:rPr>
              <a:t>Project Title -</a:t>
            </a:r>
            <a:r>
              <a:rPr lang="en-IN" sz="3200" b="1" dirty="0">
                <a:latin typeface="Algerian" panose="04020705040A02060702" pitchFamily="82" charset="0"/>
              </a:rPr>
              <a:t>Seasonal Agriculture    Performance Analysis</a:t>
            </a:r>
            <a:br>
              <a:rPr lang="en-IN" sz="3200" dirty="0">
                <a:latin typeface="Algerian" panose="04020705040A02060702" pitchFamily="82" charset="0"/>
              </a:rPr>
            </a:br>
            <a:endParaRPr lang="en-IN" sz="3200" dirty="0">
              <a:latin typeface="Algerian" panose="04020705040A02060702" pitchFamily="82"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9" name="TextBox 8">
            <a:extLst>
              <a:ext uri="{FF2B5EF4-FFF2-40B4-BE49-F238E27FC236}">
                <a16:creationId xmlns:a16="http://schemas.microsoft.com/office/drawing/2014/main" id="{620D626F-FA00-5E14-CA79-544966D8A960}"/>
              </a:ext>
            </a:extLst>
          </p:cNvPr>
          <p:cNvSpPr txBox="1"/>
          <p:nvPr/>
        </p:nvSpPr>
        <p:spPr>
          <a:xfrm>
            <a:off x="4134238" y="4919098"/>
            <a:ext cx="6102220" cy="307777"/>
          </a:xfrm>
          <a:prstGeom prst="rect">
            <a:avLst/>
          </a:prstGeom>
          <a:noFill/>
        </p:spPr>
        <p:txBody>
          <a:bodyPr wrap="square">
            <a:spAutoFit/>
          </a:bodyPr>
          <a:lstStyle/>
          <a:p>
            <a:r>
              <a:rPr lang="en-US" sz="1400" dirty="0"/>
              <a:t>AICTE STU ID : STU688a337fa82181753887615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85000" lnSpcReduction="20000"/>
          </a:bodyPr>
          <a:lstStyle/>
          <a:p>
            <a:pPr marL="0" indent="0">
              <a:lnSpc>
                <a:spcPct val="100000"/>
              </a:lnSpc>
              <a:buNone/>
            </a:pPr>
            <a:r>
              <a:rPr lang="en-US" sz="2800" dirty="0">
                <a:latin typeface="Aparajita" panose="02020603050405020304" pitchFamily="18" charset="0"/>
                <a:cs typeface="Aparajita"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latin typeface="Aparajita" panose="02020603050405020304" pitchFamily="18" charset="0"/>
              <a:cs typeface="Aparajita"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Algerian" panose="04020705040A02060702" pitchFamily="82" charset="0"/>
              </a:rPr>
              <a:t>PROBLEM  STATEMENT</a:t>
            </a:r>
            <a:endParaRPr lang="en-IN" dirty="0">
              <a:latin typeface="Algerian" panose="04020705040A02060702" pitchFamily="82"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545606"/>
            <a:ext cx="8278328" cy="3766787"/>
          </a:xfrm>
        </p:spPr>
        <p:txBody>
          <a:bodyPr>
            <a:noAutofit/>
          </a:bodyPr>
          <a:lstStyle/>
          <a:p>
            <a:r>
              <a:rPr lang="en-IN" sz="2400" dirty="0">
                <a:latin typeface="Aparajita" panose="02020603050405020304" pitchFamily="18" charset="0"/>
                <a:cs typeface="Aparajita" panose="02020603050405020304" pitchFamily="18" charset="0"/>
              </a:rPr>
              <a:t>Seasonal Agriculture Performance Analysis is a data analytics project that examines how agricultural performance changes across Kharif, Rabi and Zaid seasons. The analysis uses 4,000 agricultural records containing 28 variables related to crop production, environmental conditions, farming practices, resource utilization and economic performance.</a:t>
            </a:r>
            <a:br>
              <a:rPr lang="en-IN" sz="2400" dirty="0">
                <a:latin typeface="Aparajita" panose="02020603050405020304" pitchFamily="18" charset="0"/>
                <a:cs typeface="Aparajita" panose="02020603050405020304" pitchFamily="18" charset="0"/>
              </a:rPr>
            </a:br>
            <a:r>
              <a:rPr lang="en-IN" sz="2400" dirty="0">
                <a:latin typeface="Aparajita" panose="02020603050405020304" pitchFamily="18" charset="0"/>
                <a:cs typeface="Aparajita" panose="02020603050405020304" pitchFamily="18" charset="0"/>
              </a:rPr>
              <a:t>The project includes data exploration, data quality checking, seasonal performance comparison, crop-level analysis, environmental analysis, resource utilization analysis, economic analysis, correlation analysis, statistical testing, regional analysis and outlier detection.</a:t>
            </a:r>
            <a:br>
              <a:rPr lang="en-IN" sz="2400" dirty="0">
                <a:latin typeface="Aparajita" panose="02020603050405020304" pitchFamily="18" charset="0"/>
                <a:cs typeface="Aparajita" panose="02020603050405020304" pitchFamily="18" charset="0"/>
              </a:rPr>
            </a:br>
            <a:r>
              <a:rPr lang="en-IN" sz="2400" dirty="0">
                <a:latin typeface="Aparajita" panose="02020603050405020304" pitchFamily="18" charset="0"/>
                <a:cs typeface="Aparajita" panose="02020603050405020304" pitchFamily="18" charset="0"/>
              </a:rPr>
              <a:t>The objective is to identify meaningful patterns and relationships in the data and develop evidence-based insights that can support better seasonal agricultural planning.</a:t>
            </a:r>
            <a:br>
              <a:rPr lang="en-IN" sz="2400" dirty="0">
                <a:latin typeface="Aparajita" panose="02020603050405020304" pitchFamily="18" charset="0"/>
                <a:cs typeface="Aparajita" panose="02020603050405020304" pitchFamily="18" charset="0"/>
              </a:rPr>
            </a:br>
            <a:br>
              <a:rPr lang="en-GB" sz="2400" dirty="0">
                <a:latin typeface="Aparajita" panose="02020603050405020304" pitchFamily="18" charset="0"/>
                <a:cs typeface="Aparajita" panose="02020603050405020304" pitchFamily="18" charset="0"/>
              </a:rPr>
            </a:br>
            <a:endParaRPr lang="en-IN" sz="2400" dirty="0">
              <a:latin typeface="Aparajita" panose="02020603050405020304" pitchFamily="18" charset="0"/>
              <a:cs typeface="Aparajita"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EA93D08F-5D5E-5F99-C8D1-B61457977908}"/>
              </a:ext>
            </a:extLst>
          </p:cNvPr>
          <p:cNvSpPr txBox="1"/>
          <p:nvPr/>
        </p:nvSpPr>
        <p:spPr>
          <a:xfrm>
            <a:off x="675957" y="637714"/>
            <a:ext cx="5782352" cy="707886"/>
          </a:xfrm>
          <a:prstGeom prst="rect">
            <a:avLst/>
          </a:prstGeom>
          <a:noFill/>
        </p:spPr>
        <p:txBody>
          <a:bodyPr wrap="none" rtlCol="0">
            <a:spAutoFit/>
          </a:bodyPr>
          <a:lstStyle/>
          <a:p>
            <a:r>
              <a:rPr lang="en-IN" sz="4000" b="1" dirty="0">
                <a:latin typeface="Algerian" panose="04020705040A02060702" pitchFamily="82" charset="0"/>
              </a:rPr>
              <a:t>Project Description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lvl="0"/>
            <a:r>
              <a:rPr lang="en-IN" sz="4000" dirty="0">
                <a:latin typeface="Aparajita" panose="02020603050405020304" pitchFamily="18" charset="0"/>
                <a:cs typeface="Aparajita" panose="02020603050405020304" pitchFamily="18" charset="0"/>
              </a:rPr>
              <a:t>👨‍🌾 </a:t>
            </a:r>
            <a:r>
              <a:rPr lang="en-IN" sz="4000" b="1" dirty="0">
                <a:latin typeface="Aparajita" panose="02020603050405020304" pitchFamily="18" charset="0"/>
                <a:cs typeface="Aparajita" panose="02020603050405020304" pitchFamily="18" charset="0"/>
              </a:rPr>
              <a:t>Farmers</a:t>
            </a:r>
            <a:r>
              <a:rPr lang="en-IN" sz="4000" dirty="0">
                <a:latin typeface="Aparajita" panose="02020603050405020304" pitchFamily="18" charset="0"/>
                <a:cs typeface="Aparajita" panose="02020603050405020304" pitchFamily="18" charset="0"/>
              </a:rPr>
              <a:t> — understand seasonal crop performance and resource use. </a:t>
            </a:r>
          </a:p>
          <a:p>
            <a:pPr lvl="0"/>
            <a:r>
              <a:rPr lang="en-IN" sz="4000" dirty="0">
                <a:latin typeface="Aparajita" panose="02020603050405020304" pitchFamily="18" charset="0"/>
                <a:cs typeface="Aparajita" panose="02020603050405020304" pitchFamily="18" charset="0"/>
              </a:rPr>
              <a:t>🌾 </a:t>
            </a:r>
            <a:r>
              <a:rPr lang="en-IN" sz="4000" b="1" dirty="0">
                <a:latin typeface="Aparajita" panose="02020603050405020304" pitchFamily="18" charset="0"/>
                <a:cs typeface="Aparajita" panose="02020603050405020304" pitchFamily="18" charset="0"/>
              </a:rPr>
              <a:t>Agricultural Planners</a:t>
            </a:r>
            <a:r>
              <a:rPr lang="en-IN" sz="4000" dirty="0">
                <a:latin typeface="Aparajita" panose="02020603050405020304" pitchFamily="18" charset="0"/>
                <a:cs typeface="Aparajita" panose="02020603050405020304" pitchFamily="18" charset="0"/>
              </a:rPr>
              <a:t> — support seasonal crop and resource planning. </a:t>
            </a:r>
          </a:p>
          <a:p>
            <a:pPr lvl="0"/>
            <a:r>
              <a:rPr lang="en-IN" sz="4000" dirty="0">
                <a:latin typeface="Aparajita" panose="02020603050405020304" pitchFamily="18" charset="0"/>
                <a:cs typeface="Aparajita" panose="02020603050405020304" pitchFamily="18" charset="0"/>
              </a:rPr>
              <a:t>📊 </a:t>
            </a:r>
            <a:r>
              <a:rPr lang="en-IN" sz="4000" b="1" dirty="0">
                <a:latin typeface="Aparajita" panose="02020603050405020304" pitchFamily="18" charset="0"/>
                <a:cs typeface="Aparajita" panose="02020603050405020304" pitchFamily="18" charset="0"/>
              </a:rPr>
              <a:t>Agricultural Analysts/Researchers</a:t>
            </a:r>
            <a:r>
              <a:rPr lang="en-IN" sz="4000" dirty="0">
                <a:latin typeface="Aparajita" panose="02020603050405020304" pitchFamily="18" charset="0"/>
                <a:cs typeface="Aparajita" panose="02020603050405020304" pitchFamily="18" charset="0"/>
              </a:rPr>
              <a:t> — </a:t>
            </a:r>
            <a:r>
              <a:rPr lang="en-IN" sz="4000" dirty="0" err="1">
                <a:latin typeface="Aparajita" panose="02020603050405020304" pitchFamily="18" charset="0"/>
                <a:cs typeface="Aparajita" panose="02020603050405020304" pitchFamily="18" charset="0"/>
              </a:rPr>
              <a:t>analyze</a:t>
            </a:r>
            <a:r>
              <a:rPr lang="en-IN" sz="4000" dirty="0">
                <a:latin typeface="Aparajita" panose="02020603050405020304" pitchFamily="18" charset="0"/>
                <a:cs typeface="Aparajita" panose="02020603050405020304" pitchFamily="18" charset="0"/>
              </a:rPr>
              <a:t> patterns and relationships in agricultural data. </a:t>
            </a:r>
          </a:p>
          <a:p>
            <a:pPr lvl="0"/>
            <a:r>
              <a:rPr lang="en-IN" sz="4000" dirty="0">
                <a:latin typeface="Aparajita" panose="02020603050405020304" pitchFamily="18" charset="0"/>
                <a:cs typeface="Aparajita" panose="02020603050405020304" pitchFamily="18" charset="0"/>
              </a:rPr>
              <a:t>🏛️ </a:t>
            </a:r>
            <a:r>
              <a:rPr lang="en-IN" sz="4000" b="1" dirty="0">
                <a:latin typeface="Aparajita" panose="02020603050405020304" pitchFamily="18" charset="0"/>
                <a:cs typeface="Aparajita" panose="02020603050405020304" pitchFamily="18" charset="0"/>
              </a:rPr>
              <a:t>Government &amp; Agricultural Departments</a:t>
            </a:r>
            <a:r>
              <a:rPr lang="en-IN" sz="4000" dirty="0">
                <a:latin typeface="Aparajita" panose="02020603050405020304" pitchFamily="18" charset="0"/>
                <a:cs typeface="Aparajita" panose="02020603050405020304" pitchFamily="18" charset="0"/>
              </a:rPr>
              <a:t> — support evidence-based agricultural planning. </a:t>
            </a:r>
          </a:p>
          <a:p>
            <a:pPr lvl="0"/>
            <a:r>
              <a:rPr lang="en-IN" sz="4000" dirty="0">
                <a:latin typeface="Aparajita" panose="02020603050405020304" pitchFamily="18" charset="0"/>
                <a:cs typeface="Aparajita" panose="02020603050405020304" pitchFamily="18" charset="0"/>
              </a:rPr>
              <a:t>💧 </a:t>
            </a:r>
            <a:r>
              <a:rPr lang="en-IN" sz="4000" b="1" dirty="0">
                <a:latin typeface="Aparajita" panose="02020603050405020304" pitchFamily="18" charset="0"/>
                <a:cs typeface="Aparajita" panose="02020603050405020304" pitchFamily="18" charset="0"/>
              </a:rPr>
              <a:t>Resource Management Stakeholders</a:t>
            </a:r>
            <a:r>
              <a:rPr lang="en-IN" sz="4000" dirty="0">
                <a:latin typeface="Aparajita" panose="02020603050405020304" pitchFamily="18" charset="0"/>
                <a:cs typeface="Aparajita" panose="02020603050405020304" pitchFamily="18" charset="0"/>
              </a:rPr>
              <a:t> — understand water and other resource utilization.</a:t>
            </a:r>
          </a:p>
          <a:p>
            <a:pPr algn="just">
              <a:lnSpc>
                <a:spcPct val="150000"/>
              </a:lnSpc>
            </a:pPr>
            <a:endParaRPr lang="en-IN" sz="3600" dirty="0">
              <a:latin typeface="Aparajita" panose="02020603050405020304" pitchFamily="18" charset="0"/>
              <a:cs typeface="Aparajita"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Algerian" panose="04020705040A02060702" pitchFamily="82" charset="0"/>
              </a:rPr>
              <a:t>WHO ARE THE END USERS?</a:t>
            </a:r>
            <a:endParaRPr lang="en-IN" sz="2000" dirty="0">
              <a:latin typeface="Algerian" panose="04020705040A02060702" pitchFamily="82"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716833"/>
            <a:ext cx="3424335" cy="3797560"/>
          </a:xfrm>
        </p:spPr>
        <p:txBody>
          <a:bodyPr>
            <a:normAutofit fontScale="85000" lnSpcReduction="20000"/>
          </a:bodyPr>
          <a:lstStyle/>
          <a:p>
            <a:pPr marL="0" indent="0">
              <a:buNone/>
            </a:pPr>
            <a:r>
              <a:rPr lang="en-IN" b="1" dirty="0"/>
              <a:t>Programming &amp; Analysis</a:t>
            </a:r>
            <a:endParaRPr lang="en-IN" dirty="0"/>
          </a:p>
          <a:p>
            <a:pPr lvl="0"/>
            <a:r>
              <a:rPr lang="en-IN" dirty="0"/>
              <a:t>Python </a:t>
            </a:r>
          </a:p>
          <a:p>
            <a:pPr lvl="0"/>
            <a:r>
              <a:rPr lang="en-IN" dirty="0"/>
              <a:t>Pandas </a:t>
            </a:r>
          </a:p>
          <a:p>
            <a:pPr lvl="0"/>
            <a:r>
              <a:rPr lang="en-IN" dirty="0"/>
              <a:t>NumPy </a:t>
            </a:r>
          </a:p>
          <a:p>
            <a:pPr lvl="0"/>
            <a:r>
              <a:rPr lang="en-IN" dirty="0"/>
              <a:t>SciPy </a:t>
            </a:r>
          </a:p>
          <a:p>
            <a:pPr marL="0" indent="0">
              <a:buNone/>
            </a:pPr>
            <a:r>
              <a:rPr lang="en-IN" b="1" dirty="0"/>
              <a:t>Visualization</a:t>
            </a:r>
            <a:endParaRPr lang="en-IN" dirty="0"/>
          </a:p>
          <a:p>
            <a:pPr lvl="0"/>
            <a:r>
              <a:rPr lang="en-IN" dirty="0"/>
              <a:t>Matplotlib </a:t>
            </a:r>
          </a:p>
          <a:p>
            <a:pPr lvl="0"/>
            <a:r>
              <a:rPr lang="en-IN" dirty="0"/>
              <a:t>Seaborn </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dirty="0">
                <a:latin typeface="Algerian" panose="04020705040A02060702" pitchFamily="82" charset="0"/>
              </a:rPr>
              <a:t>Technology Used</a:t>
            </a:r>
          </a:p>
        </p:txBody>
      </p:sp>
      <p:sp>
        <p:nvSpPr>
          <p:cNvPr id="3" name="TextBox 2">
            <a:extLst>
              <a:ext uri="{FF2B5EF4-FFF2-40B4-BE49-F238E27FC236}">
                <a16:creationId xmlns:a16="http://schemas.microsoft.com/office/drawing/2014/main" id="{8CEE0B2D-5B3D-2514-06AE-A464FDFA7301}"/>
              </a:ext>
            </a:extLst>
          </p:cNvPr>
          <p:cNvSpPr txBox="1"/>
          <p:nvPr/>
        </p:nvSpPr>
        <p:spPr>
          <a:xfrm>
            <a:off x="4972180" y="1697964"/>
            <a:ext cx="4773018" cy="3816429"/>
          </a:xfrm>
          <a:prstGeom prst="rect">
            <a:avLst/>
          </a:prstGeom>
          <a:noFill/>
        </p:spPr>
        <p:txBody>
          <a:bodyPr wrap="square" rtlCol="0">
            <a:spAutoFit/>
          </a:bodyPr>
          <a:lstStyle/>
          <a:p>
            <a:pPr>
              <a:lnSpc>
                <a:spcPct val="200000"/>
              </a:lnSpc>
            </a:pPr>
            <a:r>
              <a:rPr lang="en-IN" sz="1600" b="1" dirty="0">
                <a:cs typeface="Aparajita" panose="02020603050405020304" pitchFamily="18" charset="0"/>
              </a:rPr>
              <a:t>Environment</a:t>
            </a:r>
            <a:endParaRPr lang="en-IN" sz="1600" dirty="0">
              <a:cs typeface="Aparajita" panose="02020603050405020304" pitchFamily="18" charset="0"/>
            </a:endParaRPr>
          </a:p>
          <a:p>
            <a:pPr marL="342900" lvl="0" indent="-342900">
              <a:lnSpc>
                <a:spcPct val="200000"/>
              </a:lnSpc>
              <a:buFont typeface="Wingdings" panose="05000000000000000000" pitchFamily="2" charset="2"/>
              <a:buChar char="§"/>
            </a:pPr>
            <a:r>
              <a:rPr lang="en-IN" sz="1600" dirty="0">
                <a:cs typeface="Aparajita" panose="02020603050405020304" pitchFamily="18" charset="0"/>
              </a:rPr>
              <a:t>Google </a:t>
            </a:r>
            <a:r>
              <a:rPr lang="en-IN" sz="1600" dirty="0" err="1">
                <a:cs typeface="Aparajita" panose="02020603050405020304" pitchFamily="18" charset="0"/>
              </a:rPr>
              <a:t>Colab</a:t>
            </a:r>
            <a:r>
              <a:rPr lang="en-IN" sz="1600" dirty="0">
                <a:cs typeface="Aparajita" panose="02020603050405020304" pitchFamily="18" charset="0"/>
              </a:rPr>
              <a:t> </a:t>
            </a:r>
          </a:p>
          <a:p>
            <a:pPr marL="342900" lvl="0" indent="-342900">
              <a:lnSpc>
                <a:spcPct val="200000"/>
              </a:lnSpc>
              <a:buFont typeface="Wingdings" panose="05000000000000000000" pitchFamily="2" charset="2"/>
              <a:buChar char="§"/>
            </a:pPr>
            <a:r>
              <a:rPr lang="en-IN" sz="1600" dirty="0">
                <a:cs typeface="Aparajita" panose="02020603050405020304" pitchFamily="18" charset="0"/>
              </a:rPr>
              <a:t>Jupyter Notebook </a:t>
            </a:r>
          </a:p>
          <a:p>
            <a:pPr marL="285750" lvl="0" indent="-285750">
              <a:lnSpc>
                <a:spcPct val="200000"/>
              </a:lnSpc>
              <a:buFont typeface="Wingdings" panose="05000000000000000000" pitchFamily="2" charset="2"/>
              <a:buChar char="§"/>
            </a:pPr>
            <a:endParaRPr lang="en-IN" sz="1600" dirty="0">
              <a:cs typeface="Aparajita" panose="02020603050405020304" pitchFamily="18" charset="0"/>
            </a:endParaRPr>
          </a:p>
          <a:p>
            <a:pPr>
              <a:lnSpc>
                <a:spcPct val="200000"/>
              </a:lnSpc>
            </a:pPr>
            <a:r>
              <a:rPr lang="en-IN" sz="1600" b="1" dirty="0">
                <a:cs typeface="Aparajita" panose="02020603050405020304" pitchFamily="18" charset="0"/>
              </a:rPr>
              <a:t>Statistical Analysis</a:t>
            </a:r>
            <a:endParaRPr lang="en-IN" sz="1600" dirty="0">
              <a:cs typeface="Aparajita" panose="02020603050405020304" pitchFamily="18" charset="0"/>
            </a:endParaRPr>
          </a:p>
          <a:p>
            <a:pPr marL="342900" lvl="0" indent="-342900">
              <a:lnSpc>
                <a:spcPct val="200000"/>
              </a:lnSpc>
              <a:buFont typeface="Wingdings" panose="05000000000000000000" pitchFamily="2" charset="2"/>
              <a:buChar char="§"/>
            </a:pPr>
            <a:r>
              <a:rPr lang="en-IN" sz="1600" dirty="0">
                <a:cs typeface="Aparajita" panose="02020603050405020304" pitchFamily="18" charset="0"/>
              </a:rPr>
              <a:t>Correlation Analysis </a:t>
            </a:r>
          </a:p>
          <a:p>
            <a:pPr marL="342900" lvl="0" indent="-342900">
              <a:lnSpc>
                <a:spcPct val="200000"/>
              </a:lnSpc>
              <a:buFont typeface="Wingdings" panose="05000000000000000000" pitchFamily="2" charset="2"/>
              <a:buChar char="§"/>
            </a:pPr>
            <a:r>
              <a:rPr lang="en-IN" sz="1600" dirty="0">
                <a:cs typeface="Aparajita" panose="02020603050405020304" pitchFamily="18" charset="0"/>
              </a:rPr>
              <a:t>One-Way ANOVA</a:t>
            </a:r>
          </a:p>
          <a:p>
            <a:endParaRPr lang="en-IN"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Algerian" panose="04020705040A02060702" pitchFamily="82" charset="0"/>
              </a:rPr>
              <a:t>RESULTS </a:t>
            </a:r>
            <a:endParaRPr lang="en-IN" dirty="0">
              <a:latin typeface="Algerian" panose="04020705040A02060702" pitchFamily="82"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49BC4DAA-3AF1-A40A-FC9C-A787EF796788}"/>
              </a:ext>
            </a:extLst>
          </p:cNvPr>
          <p:cNvPicPr>
            <a:picLocks noChangeAspect="1"/>
          </p:cNvPicPr>
          <p:nvPr/>
        </p:nvPicPr>
        <p:blipFill>
          <a:blip r:embed="rId3"/>
          <a:stretch>
            <a:fillRect/>
          </a:stretch>
        </p:blipFill>
        <p:spPr>
          <a:xfrm>
            <a:off x="675957" y="3308018"/>
            <a:ext cx="3770507" cy="2391387"/>
          </a:xfrm>
          <a:prstGeom prst="rect">
            <a:avLst/>
          </a:prstGeom>
        </p:spPr>
      </p:pic>
      <p:pic>
        <p:nvPicPr>
          <p:cNvPr id="12" name="Picture 11">
            <a:extLst>
              <a:ext uri="{FF2B5EF4-FFF2-40B4-BE49-F238E27FC236}">
                <a16:creationId xmlns:a16="http://schemas.microsoft.com/office/drawing/2014/main" id="{CB8BE969-AD2B-D03E-1950-1A32F9279B17}"/>
              </a:ext>
            </a:extLst>
          </p:cNvPr>
          <p:cNvPicPr>
            <a:picLocks noChangeAspect="1"/>
          </p:cNvPicPr>
          <p:nvPr/>
        </p:nvPicPr>
        <p:blipFill>
          <a:blip r:embed="rId4"/>
          <a:stretch>
            <a:fillRect/>
          </a:stretch>
        </p:blipFill>
        <p:spPr>
          <a:xfrm>
            <a:off x="5064078" y="3429000"/>
            <a:ext cx="3721584" cy="2308324"/>
          </a:xfrm>
          <a:prstGeom prst="rect">
            <a:avLst/>
          </a:prstGeom>
        </p:spPr>
      </p:pic>
      <p:sp>
        <p:nvSpPr>
          <p:cNvPr id="13" name="TextBox 12">
            <a:extLst>
              <a:ext uri="{FF2B5EF4-FFF2-40B4-BE49-F238E27FC236}">
                <a16:creationId xmlns:a16="http://schemas.microsoft.com/office/drawing/2014/main" id="{0B513B12-E334-8FE1-1367-86F56431CCBF}"/>
              </a:ext>
            </a:extLst>
          </p:cNvPr>
          <p:cNvSpPr txBox="1"/>
          <p:nvPr/>
        </p:nvSpPr>
        <p:spPr>
          <a:xfrm>
            <a:off x="5064078" y="1275371"/>
            <a:ext cx="5250354" cy="1846659"/>
          </a:xfrm>
          <a:prstGeom prst="rect">
            <a:avLst/>
          </a:prstGeom>
          <a:noFill/>
        </p:spPr>
        <p:txBody>
          <a:bodyPr wrap="square" rtlCol="0">
            <a:spAutoFit/>
          </a:bodyPr>
          <a:lstStyle/>
          <a:p>
            <a:r>
              <a:rPr lang="en-IN" sz="1200" dirty="0" err="1"/>
              <a:t>plt.figure</a:t>
            </a:r>
            <a:r>
              <a:rPr lang="en-IN" sz="1200" dirty="0"/>
              <a:t>(</a:t>
            </a:r>
            <a:r>
              <a:rPr lang="en-IN" sz="1200" dirty="0" err="1"/>
              <a:t>figsize</a:t>
            </a:r>
            <a:r>
              <a:rPr lang="en-IN" sz="1200" dirty="0"/>
              <a:t>=(8, 5))</a:t>
            </a:r>
          </a:p>
          <a:p>
            <a:r>
              <a:rPr lang="en-IN" sz="1200" dirty="0" err="1"/>
              <a:t>yield_by_season.plot</a:t>
            </a:r>
            <a:r>
              <a:rPr lang="en-IN" sz="1200" dirty="0"/>
              <a:t>(kind="bar")</a:t>
            </a:r>
          </a:p>
          <a:p>
            <a:r>
              <a:rPr lang="en-IN" sz="1200" dirty="0" err="1"/>
              <a:t>plt.title</a:t>
            </a:r>
            <a:r>
              <a:rPr lang="en-IN" sz="1200" dirty="0"/>
              <a:t>("Average Agricultural Yield by Season")</a:t>
            </a:r>
          </a:p>
          <a:p>
            <a:r>
              <a:rPr lang="en-IN" sz="1200" dirty="0" err="1"/>
              <a:t>plt.xlabel</a:t>
            </a:r>
            <a:r>
              <a:rPr lang="en-IN" sz="1200" dirty="0"/>
              <a:t>("Season")</a:t>
            </a:r>
          </a:p>
          <a:p>
            <a:r>
              <a:rPr lang="en-IN" sz="1200" dirty="0" err="1"/>
              <a:t>plt.ylabel</a:t>
            </a:r>
            <a:r>
              <a:rPr lang="en-IN" sz="1200" dirty="0"/>
              <a:t>("Average Yield (Tonnes/Ha)")</a:t>
            </a:r>
          </a:p>
          <a:p>
            <a:r>
              <a:rPr lang="en-IN" sz="1200" dirty="0" err="1"/>
              <a:t>plt.xticks</a:t>
            </a:r>
            <a:r>
              <a:rPr lang="en-IN" sz="1200" dirty="0"/>
              <a:t>(rotation=0)</a:t>
            </a:r>
          </a:p>
          <a:p>
            <a:r>
              <a:rPr lang="en-IN" sz="1200" dirty="0" err="1"/>
              <a:t>plt.tight_layout</a:t>
            </a:r>
            <a:r>
              <a:rPr lang="en-IN" sz="1200" dirty="0"/>
              <a:t>()</a:t>
            </a:r>
          </a:p>
          <a:p>
            <a:r>
              <a:rPr lang="en-IN" sz="1200" dirty="0" err="1"/>
              <a:t>plt.show</a:t>
            </a:r>
            <a:r>
              <a:rPr lang="en-IN" sz="1200" dirty="0"/>
              <a:t>()</a:t>
            </a:r>
          </a:p>
          <a:p>
            <a:endParaRPr lang="en-IN" dirty="0"/>
          </a:p>
        </p:txBody>
      </p:sp>
      <p:sp>
        <p:nvSpPr>
          <p:cNvPr id="16" name="TextBox 15">
            <a:extLst>
              <a:ext uri="{FF2B5EF4-FFF2-40B4-BE49-F238E27FC236}">
                <a16:creationId xmlns:a16="http://schemas.microsoft.com/office/drawing/2014/main" id="{F9389C50-0FB4-C1B6-E6D9-03707021B387}"/>
              </a:ext>
            </a:extLst>
          </p:cNvPr>
          <p:cNvSpPr txBox="1"/>
          <p:nvPr/>
        </p:nvSpPr>
        <p:spPr>
          <a:xfrm>
            <a:off x="893536" y="1446245"/>
            <a:ext cx="4037250" cy="1723549"/>
          </a:xfrm>
          <a:prstGeom prst="rect">
            <a:avLst/>
          </a:prstGeom>
          <a:noFill/>
        </p:spPr>
        <p:txBody>
          <a:bodyPr wrap="square" rtlCol="0">
            <a:spAutoFit/>
          </a:bodyPr>
          <a:lstStyle/>
          <a:p>
            <a:r>
              <a:rPr lang="en-IN" sz="1100" dirty="0" err="1"/>
              <a:t>plt.figure</a:t>
            </a:r>
            <a:r>
              <a:rPr lang="en-IN" sz="1100" dirty="0"/>
              <a:t>(</a:t>
            </a:r>
            <a:r>
              <a:rPr lang="en-IN" sz="1100" dirty="0" err="1"/>
              <a:t>figsize</a:t>
            </a:r>
            <a:r>
              <a:rPr lang="en-IN" sz="1100" dirty="0"/>
              <a:t>=(8, 5))</a:t>
            </a:r>
          </a:p>
          <a:p>
            <a:r>
              <a:rPr lang="en-IN" sz="1100" dirty="0" err="1"/>
              <a:t>season_counts.plot</a:t>
            </a:r>
            <a:r>
              <a:rPr lang="en-IN" sz="1100" dirty="0"/>
              <a:t>(kind="bar")</a:t>
            </a:r>
          </a:p>
          <a:p>
            <a:r>
              <a:rPr lang="en-IN" sz="1100" dirty="0" err="1"/>
              <a:t>plt.title</a:t>
            </a:r>
            <a:r>
              <a:rPr lang="en-IN" sz="1100" dirty="0"/>
              <a:t>("Distribution of Agricultural Records by Season")</a:t>
            </a:r>
          </a:p>
          <a:p>
            <a:r>
              <a:rPr lang="en-IN" sz="1100" dirty="0" err="1"/>
              <a:t>plt.xlabel</a:t>
            </a:r>
            <a:r>
              <a:rPr lang="en-IN" sz="1100" dirty="0"/>
              <a:t>("Season")</a:t>
            </a:r>
          </a:p>
          <a:p>
            <a:r>
              <a:rPr lang="en-IN" sz="1100" dirty="0" err="1"/>
              <a:t>plt.ylabel</a:t>
            </a:r>
            <a:r>
              <a:rPr lang="en-IN" sz="1100" dirty="0"/>
              <a:t>("Number of Records")</a:t>
            </a:r>
          </a:p>
          <a:p>
            <a:r>
              <a:rPr lang="en-IN" sz="1100" dirty="0" err="1"/>
              <a:t>plt.xticks</a:t>
            </a:r>
            <a:r>
              <a:rPr lang="en-IN" sz="1100" dirty="0"/>
              <a:t>(rotation=0)</a:t>
            </a:r>
          </a:p>
          <a:p>
            <a:r>
              <a:rPr lang="en-IN" sz="1100" dirty="0" err="1"/>
              <a:t>plt.tight_layout</a:t>
            </a:r>
            <a:r>
              <a:rPr lang="en-IN" sz="1100" dirty="0"/>
              <a:t>()</a:t>
            </a:r>
          </a:p>
          <a:p>
            <a:r>
              <a:rPr lang="en-IN" sz="1100" dirty="0" err="1"/>
              <a:t>plt.show</a:t>
            </a:r>
            <a:r>
              <a:rPr lang="en-IN" sz="1100" dirty="0"/>
              <a:t>()</a:t>
            </a:r>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normAutofit fontScale="25000" lnSpcReduction="20000"/>
          </a:bodyPr>
          <a:lstStyle/>
          <a:p>
            <a:pPr marL="0" indent="0">
              <a:buNone/>
            </a:pPr>
            <a:r>
              <a:rPr lang="en-IN" sz="5600" b="1" dirty="0"/>
              <a:t>Seasonal Performance Table</a:t>
            </a:r>
          </a:p>
          <a:p>
            <a:pPr marL="0" indent="0">
              <a:buNone/>
            </a:pPr>
            <a:r>
              <a:rPr lang="en-IN" sz="4200" dirty="0" err="1"/>
              <a:t>season_performance</a:t>
            </a:r>
            <a:r>
              <a:rPr lang="en-IN" sz="4200" dirty="0"/>
              <a:t> = </a:t>
            </a:r>
            <a:r>
              <a:rPr lang="en-IN" sz="4200" dirty="0" err="1"/>
              <a:t>df.groupby</a:t>
            </a:r>
            <a:r>
              <a:rPr lang="en-IN" sz="4200" dirty="0"/>
              <a:t>("Season").</a:t>
            </a:r>
            <a:r>
              <a:rPr lang="en-IN" sz="4200" dirty="0" err="1"/>
              <a:t>agg</a:t>
            </a:r>
            <a:r>
              <a:rPr lang="en-IN" sz="4200" dirty="0"/>
              <a:t>(</a:t>
            </a:r>
          </a:p>
          <a:p>
            <a:pPr marL="0" indent="0">
              <a:buNone/>
            </a:pPr>
            <a:r>
              <a:rPr lang="en-IN" sz="4200" dirty="0"/>
              <a:t>    </a:t>
            </a:r>
            <a:r>
              <a:rPr lang="en-IN" sz="4200" dirty="0" err="1"/>
              <a:t>Average_Yield</a:t>
            </a:r>
            <a:r>
              <a:rPr lang="en-IN" sz="4200" dirty="0"/>
              <a:t>=("</a:t>
            </a:r>
            <a:r>
              <a:rPr lang="en-IN" sz="4200" dirty="0" err="1"/>
              <a:t>Yield_Tonnes_Ha</a:t>
            </a:r>
            <a:r>
              <a:rPr lang="en-IN" sz="4200" dirty="0"/>
              <a:t>", "mean"),</a:t>
            </a:r>
          </a:p>
          <a:p>
            <a:pPr marL="0" indent="0">
              <a:buNone/>
            </a:pPr>
            <a:r>
              <a:rPr lang="en-IN" sz="4200" dirty="0"/>
              <a:t>    </a:t>
            </a:r>
            <a:r>
              <a:rPr lang="en-IN" sz="4200" dirty="0" err="1"/>
              <a:t>Average_Production</a:t>
            </a:r>
            <a:r>
              <a:rPr lang="en-IN" sz="4200" dirty="0"/>
              <a:t>=("</a:t>
            </a:r>
            <a:r>
              <a:rPr lang="en-IN" sz="4200" dirty="0" err="1"/>
              <a:t>Production_Tonnes</a:t>
            </a:r>
            <a:r>
              <a:rPr lang="en-IN" sz="4200" dirty="0"/>
              <a:t>", "mean"),</a:t>
            </a:r>
          </a:p>
          <a:p>
            <a:pPr marL="0" indent="0">
              <a:buNone/>
            </a:pPr>
            <a:r>
              <a:rPr lang="en-IN" sz="4200" dirty="0"/>
              <a:t>    </a:t>
            </a:r>
            <a:r>
              <a:rPr lang="en-IN" sz="4200" dirty="0" err="1"/>
              <a:t>Average_Revenue</a:t>
            </a:r>
            <a:r>
              <a:rPr lang="en-IN" sz="4200" dirty="0"/>
              <a:t>=("</a:t>
            </a:r>
            <a:r>
              <a:rPr lang="en-IN" sz="4200" dirty="0" err="1"/>
              <a:t>Revenue_INR</a:t>
            </a:r>
            <a:r>
              <a:rPr lang="en-IN" sz="4200" dirty="0"/>
              <a:t>", "mean"),</a:t>
            </a:r>
          </a:p>
          <a:p>
            <a:pPr marL="0" indent="0">
              <a:buNone/>
            </a:pPr>
            <a:r>
              <a:rPr lang="en-IN" sz="4200" dirty="0"/>
              <a:t>    </a:t>
            </a:r>
            <a:r>
              <a:rPr lang="en-IN" sz="4200" dirty="0" err="1"/>
              <a:t>Average_Cost</a:t>
            </a:r>
            <a:r>
              <a:rPr lang="en-IN" sz="4200" dirty="0"/>
              <a:t>=("</a:t>
            </a:r>
            <a:r>
              <a:rPr lang="en-IN" sz="4200" dirty="0" err="1"/>
              <a:t>Total_Cost_INR</a:t>
            </a:r>
            <a:r>
              <a:rPr lang="en-IN" sz="4200" dirty="0"/>
              <a:t>", "mean"),</a:t>
            </a:r>
          </a:p>
          <a:p>
            <a:pPr marL="0" indent="0">
              <a:buNone/>
            </a:pPr>
            <a:r>
              <a:rPr lang="en-IN" sz="4200" dirty="0"/>
              <a:t>    </a:t>
            </a:r>
            <a:r>
              <a:rPr lang="en-IN" sz="4200" dirty="0" err="1"/>
              <a:t>Average_Profit</a:t>
            </a:r>
            <a:r>
              <a:rPr lang="en-IN" sz="4200" dirty="0"/>
              <a:t>=("</a:t>
            </a:r>
            <a:r>
              <a:rPr lang="en-IN" sz="4200" dirty="0" err="1"/>
              <a:t>Profit_INR</a:t>
            </a:r>
            <a:r>
              <a:rPr lang="en-IN" sz="4200" dirty="0"/>
              <a:t>", "mean"),</a:t>
            </a:r>
          </a:p>
          <a:p>
            <a:pPr marL="0" indent="0">
              <a:buNone/>
            </a:pPr>
            <a:r>
              <a:rPr lang="en-IN" sz="4200" dirty="0"/>
              <a:t>    </a:t>
            </a:r>
            <a:r>
              <a:rPr lang="en-IN" sz="4200" dirty="0" err="1"/>
              <a:t>Average_Water_Efficiency</a:t>
            </a:r>
            <a:r>
              <a:rPr lang="en-IN" sz="4200" dirty="0"/>
              <a:t>=("Water_Efficiency_t_per_1000m3", "mean"),</a:t>
            </a:r>
          </a:p>
          <a:p>
            <a:pPr marL="0" indent="0">
              <a:buNone/>
            </a:pPr>
            <a:r>
              <a:rPr lang="en-IN" sz="4200" dirty="0"/>
              <a:t>    </a:t>
            </a:r>
            <a:r>
              <a:rPr lang="en-IN" sz="4200" dirty="0" err="1"/>
              <a:t>Average_Risk</a:t>
            </a:r>
            <a:r>
              <a:rPr lang="en-IN" sz="4200" dirty="0"/>
              <a:t>=("</a:t>
            </a:r>
            <a:r>
              <a:rPr lang="en-IN" sz="4200" dirty="0" err="1"/>
              <a:t>Disease_Pest_Risk_pct</a:t>
            </a:r>
            <a:r>
              <a:rPr lang="en-IN" sz="4200" dirty="0"/>
              <a:t>", "mean")</a:t>
            </a:r>
          </a:p>
          <a:p>
            <a:pPr marL="0" indent="0">
              <a:buNone/>
            </a:pPr>
            <a:r>
              <a:rPr lang="en-IN" sz="4200" dirty="0"/>
              <a:t>).round(2)</a:t>
            </a:r>
          </a:p>
          <a:p>
            <a:pPr marL="0" indent="0">
              <a:buNone/>
            </a:pPr>
            <a:r>
              <a:rPr lang="en-IN" sz="4200" dirty="0" err="1"/>
              <a:t>season_performance</a:t>
            </a:r>
            <a:endParaRPr lang="en-IN" sz="4200" dirty="0"/>
          </a:p>
          <a:p>
            <a:pPr marL="0" indent="0">
              <a:buNone/>
            </a:pPr>
            <a:endParaRPr lang="en-IN" sz="1100" dirty="0"/>
          </a:p>
        </p:txBody>
      </p:sp>
      <p:graphicFrame>
        <p:nvGraphicFramePr>
          <p:cNvPr id="2" name="Table 1">
            <a:extLst>
              <a:ext uri="{FF2B5EF4-FFF2-40B4-BE49-F238E27FC236}">
                <a16:creationId xmlns:a16="http://schemas.microsoft.com/office/drawing/2014/main" id="{74D3F9E4-4B99-9C4B-81A1-A64F7AC3B064}"/>
              </a:ext>
            </a:extLst>
          </p:cNvPr>
          <p:cNvGraphicFramePr>
            <a:graphicFrameLocks noGrp="1"/>
          </p:cNvGraphicFramePr>
          <p:nvPr>
            <p:extLst>
              <p:ext uri="{D42A27DB-BD31-4B8C-83A1-F6EECF244321}">
                <p14:modId xmlns:p14="http://schemas.microsoft.com/office/powerpoint/2010/main" val="4093607011"/>
              </p:ext>
            </p:extLst>
          </p:nvPr>
        </p:nvGraphicFramePr>
        <p:xfrm>
          <a:off x="344374" y="4782962"/>
          <a:ext cx="10535120" cy="1280160"/>
        </p:xfrm>
        <a:graphic>
          <a:graphicData uri="http://schemas.openxmlformats.org/drawingml/2006/table">
            <a:tbl>
              <a:tblPr>
                <a:tableStyleId>{6E25E649-3F16-4E02-A733-19D2CDBF48F0}</a:tableStyleId>
              </a:tblPr>
              <a:tblGrid>
                <a:gridCol w="1316890">
                  <a:extLst>
                    <a:ext uri="{9D8B030D-6E8A-4147-A177-3AD203B41FA5}">
                      <a16:colId xmlns:a16="http://schemas.microsoft.com/office/drawing/2014/main" val="2186484150"/>
                    </a:ext>
                  </a:extLst>
                </a:gridCol>
                <a:gridCol w="1316890">
                  <a:extLst>
                    <a:ext uri="{9D8B030D-6E8A-4147-A177-3AD203B41FA5}">
                      <a16:colId xmlns:a16="http://schemas.microsoft.com/office/drawing/2014/main" val="1729604811"/>
                    </a:ext>
                  </a:extLst>
                </a:gridCol>
                <a:gridCol w="1316890">
                  <a:extLst>
                    <a:ext uri="{9D8B030D-6E8A-4147-A177-3AD203B41FA5}">
                      <a16:colId xmlns:a16="http://schemas.microsoft.com/office/drawing/2014/main" val="704691035"/>
                    </a:ext>
                  </a:extLst>
                </a:gridCol>
                <a:gridCol w="1316890">
                  <a:extLst>
                    <a:ext uri="{9D8B030D-6E8A-4147-A177-3AD203B41FA5}">
                      <a16:colId xmlns:a16="http://schemas.microsoft.com/office/drawing/2014/main" val="3024891966"/>
                    </a:ext>
                  </a:extLst>
                </a:gridCol>
                <a:gridCol w="1316890">
                  <a:extLst>
                    <a:ext uri="{9D8B030D-6E8A-4147-A177-3AD203B41FA5}">
                      <a16:colId xmlns:a16="http://schemas.microsoft.com/office/drawing/2014/main" val="3847632129"/>
                    </a:ext>
                  </a:extLst>
                </a:gridCol>
                <a:gridCol w="1316890">
                  <a:extLst>
                    <a:ext uri="{9D8B030D-6E8A-4147-A177-3AD203B41FA5}">
                      <a16:colId xmlns:a16="http://schemas.microsoft.com/office/drawing/2014/main" val="1181047162"/>
                    </a:ext>
                  </a:extLst>
                </a:gridCol>
                <a:gridCol w="1316890">
                  <a:extLst>
                    <a:ext uri="{9D8B030D-6E8A-4147-A177-3AD203B41FA5}">
                      <a16:colId xmlns:a16="http://schemas.microsoft.com/office/drawing/2014/main" val="3639566558"/>
                    </a:ext>
                  </a:extLst>
                </a:gridCol>
                <a:gridCol w="1316890">
                  <a:extLst>
                    <a:ext uri="{9D8B030D-6E8A-4147-A177-3AD203B41FA5}">
                      <a16:colId xmlns:a16="http://schemas.microsoft.com/office/drawing/2014/main" val="1532122115"/>
                    </a:ext>
                  </a:extLst>
                </a:gridCol>
              </a:tblGrid>
              <a:tr h="0">
                <a:tc>
                  <a:txBody>
                    <a:bodyPr/>
                    <a:lstStyle/>
                    <a:p>
                      <a:pPr algn="r">
                        <a:buNone/>
                      </a:pPr>
                      <a:br>
                        <a:rPr lang="en-IN" sz="800" dirty="0">
                          <a:effectLst/>
                          <a:latin typeface="Arial Black" panose="020B0A04020102020204" pitchFamily="34" charset="0"/>
                          <a:cs typeface="Aparajita" panose="02020603050405020304" pitchFamily="18" charset="0"/>
                        </a:rPr>
                      </a:br>
                      <a:r>
                        <a:rPr lang="en-IN" sz="800" dirty="0">
                          <a:effectLst/>
                          <a:latin typeface="Arial Black" panose="020B0A04020102020204" pitchFamily="34" charset="0"/>
                          <a:cs typeface="Aparajita" panose="02020603050405020304" pitchFamily="18" charset="0"/>
                        </a:rPr>
                        <a:t>Season</a:t>
                      </a: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r>
                        <a:rPr lang="en-IN" sz="800" dirty="0" err="1">
                          <a:effectLst/>
                          <a:latin typeface="Arial Black" panose="020B0A04020102020204" pitchFamily="34" charset="0"/>
                          <a:cs typeface="Aparajita" panose="02020603050405020304" pitchFamily="18" charset="0"/>
                        </a:rPr>
                        <a:t>Average_Yield</a:t>
                      </a:r>
                      <a:r>
                        <a:rPr lang="en-IN" sz="800" dirty="0">
                          <a:effectLst/>
                          <a:latin typeface="Arial Black" panose="020B0A04020102020204" pitchFamily="34" charset="0"/>
                          <a:cs typeface="Aparajita" panose="02020603050405020304" pitchFamily="18" charset="0"/>
                        </a:rPr>
                        <a:t> </a:t>
                      </a:r>
                      <a:endParaRPr lang="en-IN" sz="800" dirty="0">
                        <a:latin typeface="Arial Black" panose="020B0A04020102020204" pitchFamily="34" charset="0"/>
                        <a:cs typeface="Aparajita" panose="02020603050405020304" pitchFamily="18" charset="0"/>
                      </a:endParaRPr>
                    </a:p>
                  </a:txBody>
                  <a:tcPr anchor="ctr"/>
                </a:tc>
                <a:tc>
                  <a:txBody>
                    <a:bodyPr/>
                    <a:lstStyle/>
                    <a:p>
                      <a:pPr algn="r">
                        <a:buNone/>
                      </a:pPr>
                      <a:r>
                        <a:rPr lang="en-IN" sz="800" dirty="0" err="1">
                          <a:effectLst/>
                          <a:latin typeface="Arial Black" panose="020B0A04020102020204" pitchFamily="34" charset="0"/>
                          <a:cs typeface="Aparajita" panose="02020603050405020304" pitchFamily="18" charset="0"/>
                        </a:rPr>
                        <a:t>Average_Production</a:t>
                      </a: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Average_Revenue</a:t>
                      </a:r>
                      <a:endParaRPr lang="en-IN" sz="800" b="1" i="0" dirty="0">
                        <a:solidFill>
                          <a:srgbClr val="E3E3E3"/>
                        </a:solidFill>
                        <a:effectLst/>
                        <a:latin typeface="Arial Black" panose="020B0A04020102020204" pitchFamily="34" charset="0"/>
                        <a:cs typeface="Aparajita" panose="02020603050405020304" pitchFamily="18" charset="0"/>
                      </a:endParaRPr>
                    </a:p>
                    <a:p>
                      <a:pPr algn="r">
                        <a:buNone/>
                      </a:pP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Average_Cost</a:t>
                      </a:r>
                      <a:endParaRPr lang="en-IN" sz="800" b="1" i="0" dirty="0">
                        <a:solidFill>
                          <a:srgbClr val="E3E3E3"/>
                        </a:solidFill>
                        <a:effectLst/>
                        <a:latin typeface="Arial Black" panose="020B0A04020102020204" pitchFamily="34" charset="0"/>
                        <a:cs typeface="Aparajita" panose="02020603050405020304" pitchFamily="18" charset="0"/>
                      </a:endParaRPr>
                    </a:p>
                    <a:p>
                      <a:pPr algn="r">
                        <a:buNone/>
                      </a:pP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Average_Profit</a:t>
                      </a:r>
                      <a:endParaRPr lang="en-IN" sz="800" b="1" i="0" dirty="0">
                        <a:solidFill>
                          <a:srgbClr val="E3E3E3"/>
                        </a:solidFill>
                        <a:effectLst/>
                        <a:latin typeface="Arial Black" panose="020B0A04020102020204" pitchFamily="34" charset="0"/>
                        <a:cs typeface="Aparajita" panose="02020603050405020304" pitchFamily="18" charset="0"/>
                      </a:endParaRPr>
                    </a:p>
                    <a:p>
                      <a:pPr algn="r">
                        <a:buNone/>
                      </a:pP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Average_Water_Efficiency</a:t>
                      </a:r>
                      <a:endParaRPr lang="en-IN" sz="800" b="1" i="0" dirty="0">
                        <a:solidFill>
                          <a:srgbClr val="E3E3E3"/>
                        </a:solidFill>
                        <a:effectLst/>
                        <a:latin typeface="Arial Black" panose="020B0A04020102020204" pitchFamily="34" charset="0"/>
                        <a:cs typeface="Aparajita" panose="02020603050405020304" pitchFamily="18" charset="0"/>
                      </a:endParaRPr>
                    </a:p>
                    <a:p>
                      <a:pPr algn="r">
                        <a:buNone/>
                      </a:pP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Average_Risk</a:t>
                      </a:r>
                      <a:endParaRPr lang="en-IN" sz="800" b="1" i="0" dirty="0">
                        <a:solidFill>
                          <a:srgbClr val="E3E3E3"/>
                        </a:solidFill>
                        <a:effectLst/>
                        <a:latin typeface="Arial Black" panose="020B0A04020102020204" pitchFamily="34" charset="0"/>
                        <a:cs typeface="Aparajita" panose="02020603050405020304" pitchFamily="18" charset="0"/>
                      </a:endParaRPr>
                    </a:p>
                    <a:p>
                      <a:endParaRPr lang="en-IN" sz="800" dirty="0">
                        <a:latin typeface="Arial Black" panose="020B0A04020102020204" pitchFamily="34" charset="0"/>
                        <a:cs typeface="Aparajita" panose="02020603050405020304" pitchFamily="18" charset="0"/>
                      </a:endParaRPr>
                    </a:p>
                  </a:txBody>
                  <a:tcPr/>
                </a:tc>
                <a:extLst>
                  <a:ext uri="{0D108BD9-81ED-4DB2-BD59-A6C34878D82A}">
                    <a16:rowId xmlns:a16="http://schemas.microsoft.com/office/drawing/2014/main" val="2530197232"/>
                  </a:ext>
                </a:extLst>
              </a:tr>
              <a:tr h="0">
                <a:tc>
                  <a:txBody>
                    <a:bodyPr/>
                    <a:lstStyle/>
                    <a:p>
                      <a:pPr algn="l" fontAlgn="ctr">
                        <a:buNone/>
                      </a:pPr>
                      <a:r>
                        <a:rPr lang="en-IN" sz="1200" dirty="0">
                          <a:effectLst/>
                          <a:latin typeface="Arial Black" panose="020B0A04020102020204" pitchFamily="34" charset="0"/>
                          <a:cs typeface="Aparajita" panose="02020603050405020304" pitchFamily="18" charset="0"/>
                        </a:rPr>
                        <a:t>Kharif</a:t>
                      </a:r>
                      <a:endParaRPr lang="en-IN" sz="12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5.64</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46.31</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710,719.06</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531,804.41</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178,914.65</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a:effectLst/>
                          <a:latin typeface="Arial Black" panose="020B0A04020102020204" pitchFamily="34" charset="0"/>
                          <a:cs typeface="Aparajita" panose="02020603050405020304" pitchFamily="18" charset="0"/>
                        </a:rPr>
                        <a:t>5.89</a:t>
                      </a:r>
                      <a:endParaRPr lang="en-IN" sz="1200" b="0" i="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54.47</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extLst>
                  <a:ext uri="{0D108BD9-81ED-4DB2-BD59-A6C34878D82A}">
                    <a16:rowId xmlns:a16="http://schemas.microsoft.com/office/drawing/2014/main" val="3566031508"/>
                  </a:ext>
                </a:extLst>
              </a:tr>
              <a:tr h="0">
                <a:tc>
                  <a:txBody>
                    <a:bodyPr/>
                    <a:lstStyle/>
                    <a:p>
                      <a:pPr algn="l" fontAlgn="ctr">
                        <a:buNone/>
                      </a:pPr>
                      <a:r>
                        <a:rPr lang="en-IN" sz="1200">
                          <a:effectLst/>
                          <a:latin typeface="Arial Black" panose="020B0A04020102020204" pitchFamily="34" charset="0"/>
                          <a:cs typeface="Aparajita" panose="02020603050405020304" pitchFamily="18" charset="0"/>
                        </a:rPr>
                        <a:t>Rabi</a:t>
                      </a:r>
                      <a:endParaRPr lang="en-IN" sz="1200" b="1" i="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a:effectLst/>
                          <a:latin typeface="Arial Black" panose="020B0A04020102020204" pitchFamily="34" charset="0"/>
                          <a:cs typeface="Aparajita" panose="02020603050405020304" pitchFamily="18" charset="0"/>
                        </a:rPr>
                        <a:t>5.08</a:t>
                      </a:r>
                      <a:endParaRPr lang="en-IN" sz="1200" b="0" i="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41.49</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601,526.05</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a:effectLst/>
                          <a:latin typeface="Arial Black" panose="020B0A04020102020204" pitchFamily="34" charset="0"/>
                          <a:cs typeface="Aparajita" panose="02020603050405020304" pitchFamily="18" charset="0"/>
                        </a:rPr>
                        <a:t>513,836.58</a:t>
                      </a:r>
                      <a:endParaRPr lang="en-IN" sz="1200" b="0" i="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87,689.47</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5.19</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40.48</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extLst>
                  <a:ext uri="{0D108BD9-81ED-4DB2-BD59-A6C34878D82A}">
                    <a16:rowId xmlns:a16="http://schemas.microsoft.com/office/drawing/2014/main" val="1142610287"/>
                  </a:ext>
                </a:extLst>
              </a:tr>
              <a:tr h="0">
                <a:tc>
                  <a:txBody>
                    <a:bodyPr/>
                    <a:lstStyle/>
                    <a:p>
                      <a:pPr algn="l" fontAlgn="ctr">
                        <a:buNone/>
                      </a:pPr>
                      <a:r>
                        <a:rPr lang="en-IN" sz="1200" dirty="0">
                          <a:effectLst/>
                          <a:latin typeface="Arial Black" panose="020B0A04020102020204" pitchFamily="34" charset="0"/>
                          <a:cs typeface="Aparajita" panose="02020603050405020304" pitchFamily="18" charset="0"/>
                        </a:rPr>
                        <a:t>Zaid</a:t>
                      </a:r>
                      <a:endParaRPr lang="en-IN" sz="12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a:effectLst/>
                          <a:latin typeface="Arial Black" panose="020B0A04020102020204" pitchFamily="34" charset="0"/>
                          <a:cs typeface="Aparajita" panose="02020603050405020304" pitchFamily="18" charset="0"/>
                        </a:rPr>
                        <a:t>4.67</a:t>
                      </a:r>
                      <a:endParaRPr lang="en-IN" sz="1200" b="0" i="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a:effectLst/>
                          <a:latin typeface="Arial Black" panose="020B0A04020102020204" pitchFamily="34" charset="0"/>
                          <a:cs typeface="Aparajita" panose="02020603050405020304" pitchFamily="18" charset="0"/>
                        </a:rPr>
                        <a:t>38.89</a:t>
                      </a:r>
                      <a:endParaRPr lang="en-IN" sz="1200" b="0" i="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519,171.90</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543,976.73</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-24,804.82</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4.41</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algn="r">
                        <a:buNone/>
                      </a:pPr>
                      <a:r>
                        <a:rPr lang="en-IN" sz="1200" dirty="0">
                          <a:effectLst/>
                          <a:latin typeface="Arial Black" panose="020B0A04020102020204" pitchFamily="34" charset="0"/>
                          <a:cs typeface="Aparajita" panose="02020603050405020304" pitchFamily="18" charset="0"/>
                        </a:rPr>
                        <a:t>38.22</a:t>
                      </a:r>
                      <a:endParaRPr lang="en-IN" sz="1200" b="0" i="0" dirty="0">
                        <a:solidFill>
                          <a:srgbClr val="E3E3E3"/>
                        </a:solidFill>
                        <a:effectLst/>
                        <a:latin typeface="Arial Black" panose="020B0A04020102020204" pitchFamily="34" charset="0"/>
                        <a:cs typeface="Aparajita" panose="02020603050405020304" pitchFamily="18" charset="0"/>
                      </a:endParaRPr>
                    </a:p>
                  </a:txBody>
                  <a:tcPr anchor="ctr"/>
                </a:tc>
                <a:extLst>
                  <a:ext uri="{0D108BD9-81ED-4DB2-BD59-A6C34878D82A}">
                    <a16:rowId xmlns:a16="http://schemas.microsoft.com/office/drawing/2014/main" val="479089921"/>
                  </a:ext>
                </a:extLst>
              </a:tr>
            </a:tbl>
          </a:graphicData>
        </a:graphic>
      </p:graphicFrame>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8" end="8"/>
                                            </p:txEl>
                                          </p:spTgt>
                                        </p:tgtEl>
                                        <p:attrNameLst>
                                          <p:attrName>style.visibility</p:attrName>
                                        </p:attrNameLst>
                                      </p:cBhvr>
                                      <p:to>
                                        <p:strVal val="visible"/>
                                      </p:to>
                                    </p:set>
                                    <p:animEffect transition="in" filter="fade">
                                      <p:cBhvr>
                                        <p:cTn id="84" dur="1000"/>
                                        <p:tgtEl>
                                          <p:spTgt spid="10">
                                            <p:txEl>
                                              <p:pRg st="8" end="8"/>
                                            </p:txEl>
                                          </p:spTgt>
                                        </p:tgtEl>
                                      </p:cBhvr>
                                    </p:animEffect>
                                    <p:anim calcmode="lin" valueType="num">
                                      <p:cBhvr>
                                        <p:cTn id="85"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9" end="9"/>
                                            </p:txEl>
                                          </p:spTgt>
                                        </p:tgtEl>
                                        <p:attrNameLst>
                                          <p:attrName>style.visibility</p:attrName>
                                        </p:attrNameLst>
                                      </p:cBhvr>
                                      <p:to>
                                        <p:strVal val="visible"/>
                                      </p:to>
                                    </p:set>
                                    <p:animEffect transition="in" filter="fade">
                                      <p:cBhvr>
                                        <p:cTn id="91" dur="1000"/>
                                        <p:tgtEl>
                                          <p:spTgt spid="10">
                                            <p:txEl>
                                              <p:pRg st="9" end="9"/>
                                            </p:txEl>
                                          </p:spTgt>
                                        </p:tgtEl>
                                      </p:cBhvr>
                                    </p:animEffect>
                                    <p:anim calcmode="lin" valueType="num">
                                      <p:cBhvr>
                                        <p:cTn id="92"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0" end="10"/>
                                            </p:txEl>
                                          </p:spTgt>
                                        </p:tgtEl>
                                        <p:attrNameLst>
                                          <p:attrName>style.visibility</p:attrName>
                                        </p:attrNameLst>
                                      </p:cBhvr>
                                      <p:to>
                                        <p:strVal val="visible"/>
                                      </p:to>
                                    </p:set>
                                    <p:animEffect transition="in" filter="fade">
                                      <p:cBhvr>
                                        <p:cTn id="98" dur="1000"/>
                                        <p:tgtEl>
                                          <p:spTgt spid="10">
                                            <p:txEl>
                                              <p:pRg st="10" end="10"/>
                                            </p:txEl>
                                          </p:spTgt>
                                        </p:tgtEl>
                                      </p:cBhvr>
                                    </p:animEffect>
                                    <p:anim calcmode="lin" valueType="num">
                                      <p:cBhvr>
                                        <p:cTn id="99"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latin typeface="Algerian" panose="04020705040A02060702" pitchFamily="82" charset="0"/>
              </a:rPr>
              <a:t>RESULTS </a:t>
            </a:r>
            <a:endParaRPr lang="en-IN" dirty="0">
              <a:latin typeface="Algerian" panose="04020705040A02060702" pitchFamily="82"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normAutofit fontScale="25000" lnSpcReduction="20000"/>
          </a:bodyPr>
          <a:lstStyle/>
          <a:p>
            <a:pPr marL="0" indent="0">
              <a:buNone/>
            </a:pPr>
            <a:r>
              <a:rPr lang="en-IN" sz="5600" dirty="0" err="1">
                <a:latin typeface="Aparajita" panose="02020603050405020304" pitchFamily="18" charset="0"/>
                <a:cs typeface="Aparajita" panose="02020603050405020304" pitchFamily="18" charset="0"/>
              </a:rPr>
              <a:t>state_performance</a:t>
            </a:r>
            <a:r>
              <a:rPr lang="en-IN" sz="5600" dirty="0">
                <a:latin typeface="Aparajita" panose="02020603050405020304" pitchFamily="18" charset="0"/>
                <a:cs typeface="Aparajita" panose="02020603050405020304" pitchFamily="18" charset="0"/>
              </a:rPr>
              <a:t> = </a:t>
            </a:r>
            <a:r>
              <a:rPr lang="en-IN" sz="5600" dirty="0" err="1">
                <a:latin typeface="Aparajita" panose="02020603050405020304" pitchFamily="18" charset="0"/>
                <a:cs typeface="Aparajita" panose="02020603050405020304" pitchFamily="18" charset="0"/>
              </a:rPr>
              <a:t>df.groupby</a:t>
            </a:r>
            <a:r>
              <a:rPr lang="en-IN" sz="5600" dirty="0">
                <a:latin typeface="Aparajita" panose="02020603050405020304" pitchFamily="18" charset="0"/>
                <a:cs typeface="Aparajita" panose="02020603050405020304" pitchFamily="18" charset="0"/>
              </a:rPr>
              <a:t>("State").</a:t>
            </a:r>
            <a:r>
              <a:rPr lang="en-IN" sz="5600" dirty="0" err="1">
                <a:latin typeface="Aparajita" panose="02020603050405020304" pitchFamily="18" charset="0"/>
                <a:cs typeface="Aparajita" panose="02020603050405020304" pitchFamily="18" charset="0"/>
              </a:rPr>
              <a:t>agg</a:t>
            </a:r>
            <a:r>
              <a:rPr lang="en-IN" sz="5600" dirty="0">
                <a:latin typeface="Aparajita" panose="02020603050405020304" pitchFamily="18" charset="0"/>
                <a:cs typeface="Aparajita" panose="02020603050405020304" pitchFamily="18" charset="0"/>
              </a:rPr>
              <a:t>(</a:t>
            </a:r>
          </a:p>
          <a:p>
            <a:pPr marL="0" indent="0">
              <a:buNone/>
            </a:pPr>
            <a:r>
              <a:rPr lang="en-IN" sz="5600" dirty="0">
                <a:latin typeface="Aparajita" panose="02020603050405020304" pitchFamily="18" charset="0"/>
                <a:cs typeface="Aparajita" panose="02020603050405020304" pitchFamily="18" charset="0"/>
              </a:rPr>
              <a:t>    </a:t>
            </a:r>
            <a:r>
              <a:rPr lang="en-IN" sz="5600" dirty="0" err="1">
                <a:latin typeface="Aparajita" panose="02020603050405020304" pitchFamily="18" charset="0"/>
                <a:cs typeface="Aparajita" panose="02020603050405020304" pitchFamily="18" charset="0"/>
              </a:rPr>
              <a:t>Average_Yield</a:t>
            </a:r>
            <a:r>
              <a:rPr lang="en-IN" sz="5600" dirty="0">
                <a:latin typeface="Aparajita" panose="02020603050405020304" pitchFamily="18" charset="0"/>
                <a:cs typeface="Aparajita" panose="02020603050405020304" pitchFamily="18" charset="0"/>
              </a:rPr>
              <a:t>=("</a:t>
            </a:r>
            <a:r>
              <a:rPr lang="en-IN" sz="5600" dirty="0" err="1">
                <a:latin typeface="Aparajita" panose="02020603050405020304" pitchFamily="18" charset="0"/>
                <a:cs typeface="Aparajita" panose="02020603050405020304" pitchFamily="18" charset="0"/>
              </a:rPr>
              <a:t>Yield_Tonnes_Ha</a:t>
            </a:r>
            <a:r>
              <a:rPr lang="en-IN" sz="5600" dirty="0">
                <a:latin typeface="Aparajita" panose="02020603050405020304" pitchFamily="18" charset="0"/>
                <a:cs typeface="Aparajita" panose="02020603050405020304" pitchFamily="18" charset="0"/>
              </a:rPr>
              <a:t>", "mean"),</a:t>
            </a:r>
          </a:p>
          <a:p>
            <a:pPr marL="0" indent="0">
              <a:buNone/>
            </a:pPr>
            <a:r>
              <a:rPr lang="en-IN" sz="5600" dirty="0">
                <a:latin typeface="Aparajita" panose="02020603050405020304" pitchFamily="18" charset="0"/>
                <a:cs typeface="Aparajita" panose="02020603050405020304" pitchFamily="18" charset="0"/>
              </a:rPr>
              <a:t>    </a:t>
            </a:r>
            <a:r>
              <a:rPr lang="en-IN" sz="5600" dirty="0" err="1">
                <a:latin typeface="Aparajita" panose="02020603050405020304" pitchFamily="18" charset="0"/>
                <a:cs typeface="Aparajita" panose="02020603050405020304" pitchFamily="18" charset="0"/>
              </a:rPr>
              <a:t>Average_Profit</a:t>
            </a:r>
            <a:r>
              <a:rPr lang="en-IN" sz="5600" dirty="0">
                <a:latin typeface="Aparajita" panose="02020603050405020304" pitchFamily="18" charset="0"/>
                <a:cs typeface="Aparajita" panose="02020603050405020304" pitchFamily="18" charset="0"/>
              </a:rPr>
              <a:t>=("</a:t>
            </a:r>
            <a:r>
              <a:rPr lang="en-IN" sz="5600" dirty="0" err="1">
                <a:latin typeface="Aparajita" panose="02020603050405020304" pitchFamily="18" charset="0"/>
                <a:cs typeface="Aparajita" panose="02020603050405020304" pitchFamily="18" charset="0"/>
              </a:rPr>
              <a:t>Profit_INR</a:t>
            </a:r>
            <a:r>
              <a:rPr lang="en-IN" sz="5600" dirty="0">
                <a:latin typeface="Aparajita" panose="02020603050405020304" pitchFamily="18" charset="0"/>
                <a:cs typeface="Aparajita" panose="02020603050405020304" pitchFamily="18" charset="0"/>
              </a:rPr>
              <a:t>", "mean"),</a:t>
            </a:r>
          </a:p>
          <a:p>
            <a:pPr marL="0" indent="0">
              <a:buNone/>
            </a:pPr>
            <a:r>
              <a:rPr lang="en-IN" sz="5600" dirty="0">
                <a:latin typeface="Aparajita" panose="02020603050405020304" pitchFamily="18" charset="0"/>
                <a:cs typeface="Aparajita" panose="02020603050405020304" pitchFamily="18" charset="0"/>
              </a:rPr>
              <a:t>    </a:t>
            </a:r>
            <a:r>
              <a:rPr lang="en-IN" sz="5600" dirty="0" err="1">
                <a:latin typeface="Aparajita" panose="02020603050405020304" pitchFamily="18" charset="0"/>
                <a:cs typeface="Aparajita" panose="02020603050405020304" pitchFamily="18" charset="0"/>
              </a:rPr>
              <a:t>Average_Revenue</a:t>
            </a:r>
            <a:r>
              <a:rPr lang="en-IN" sz="5600" dirty="0">
                <a:latin typeface="Aparajita" panose="02020603050405020304" pitchFamily="18" charset="0"/>
                <a:cs typeface="Aparajita" panose="02020603050405020304" pitchFamily="18" charset="0"/>
              </a:rPr>
              <a:t>=("</a:t>
            </a:r>
            <a:r>
              <a:rPr lang="en-IN" sz="5600" dirty="0" err="1">
                <a:latin typeface="Aparajita" panose="02020603050405020304" pitchFamily="18" charset="0"/>
                <a:cs typeface="Aparajita" panose="02020603050405020304" pitchFamily="18" charset="0"/>
              </a:rPr>
              <a:t>Revenue_INR</a:t>
            </a:r>
            <a:r>
              <a:rPr lang="en-IN" sz="5600" dirty="0">
                <a:latin typeface="Aparajita" panose="02020603050405020304" pitchFamily="18" charset="0"/>
                <a:cs typeface="Aparajita" panose="02020603050405020304" pitchFamily="18" charset="0"/>
              </a:rPr>
              <a:t>", "mean"),</a:t>
            </a:r>
          </a:p>
          <a:p>
            <a:pPr marL="0" indent="0">
              <a:buNone/>
            </a:pPr>
            <a:r>
              <a:rPr lang="en-IN" sz="5600" dirty="0">
                <a:latin typeface="Aparajita" panose="02020603050405020304" pitchFamily="18" charset="0"/>
                <a:cs typeface="Aparajita" panose="02020603050405020304" pitchFamily="18" charset="0"/>
              </a:rPr>
              <a:t>    </a:t>
            </a:r>
            <a:r>
              <a:rPr lang="en-IN" sz="5600" dirty="0" err="1">
                <a:latin typeface="Aparajita" panose="02020603050405020304" pitchFamily="18" charset="0"/>
                <a:cs typeface="Aparajita" panose="02020603050405020304" pitchFamily="18" charset="0"/>
              </a:rPr>
              <a:t>Average_Water_Efficiency</a:t>
            </a:r>
            <a:r>
              <a:rPr lang="en-IN" sz="5600" dirty="0">
                <a:latin typeface="Aparajita" panose="02020603050405020304" pitchFamily="18" charset="0"/>
                <a:cs typeface="Aparajita" panose="02020603050405020304" pitchFamily="18" charset="0"/>
              </a:rPr>
              <a:t>=("Water_Efficiency_t_per_1000m3", "mean"),</a:t>
            </a:r>
          </a:p>
          <a:p>
            <a:pPr marL="0" indent="0">
              <a:buNone/>
            </a:pPr>
            <a:r>
              <a:rPr lang="en-IN" sz="5600" dirty="0">
                <a:latin typeface="Aparajita" panose="02020603050405020304" pitchFamily="18" charset="0"/>
                <a:cs typeface="Aparajita" panose="02020603050405020304" pitchFamily="18" charset="0"/>
              </a:rPr>
              <a:t>    </a:t>
            </a:r>
            <a:r>
              <a:rPr lang="en-IN" sz="5600" dirty="0" err="1">
                <a:latin typeface="Aparajita" panose="02020603050405020304" pitchFamily="18" charset="0"/>
                <a:cs typeface="Aparajita" panose="02020603050405020304" pitchFamily="18" charset="0"/>
              </a:rPr>
              <a:t>Average_Risk</a:t>
            </a:r>
            <a:r>
              <a:rPr lang="en-IN" sz="5600" dirty="0">
                <a:latin typeface="Aparajita" panose="02020603050405020304" pitchFamily="18" charset="0"/>
                <a:cs typeface="Aparajita" panose="02020603050405020304" pitchFamily="18" charset="0"/>
              </a:rPr>
              <a:t>=("</a:t>
            </a:r>
            <a:r>
              <a:rPr lang="en-IN" sz="5600" dirty="0" err="1">
                <a:latin typeface="Aparajita" panose="02020603050405020304" pitchFamily="18" charset="0"/>
                <a:cs typeface="Aparajita" panose="02020603050405020304" pitchFamily="18" charset="0"/>
              </a:rPr>
              <a:t>Disease_Pest_Risk_pct</a:t>
            </a:r>
            <a:r>
              <a:rPr lang="en-IN" sz="5600" dirty="0">
                <a:latin typeface="Aparajita" panose="02020603050405020304" pitchFamily="18" charset="0"/>
                <a:cs typeface="Aparajita" panose="02020603050405020304" pitchFamily="18" charset="0"/>
              </a:rPr>
              <a:t>", "mean")</a:t>
            </a:r>
          </a:p>
          <a:p>
            <a:pPr marL="0" indent="0">
              <a:buNone/>
            </a:pPr>
            <a:r>
              <a:rPr lang="en-IN" sz="5600" dirty="0">
                <a:latin typeface="Aparajita" panose="02020603050405020304" pitchFamily="18" charset="0"/>
                <a:cs typeface="Aparajita" panose="02020603050405020304" pitchFamily="18" charset="0"/>
              </a:rPr>
              <a:t>).</a:t>
            </a:r>
            <a:r>
              <a:rPr lang="en-IN" sz="5600" dirty="0" err="1">
                <a:latin typeface="Aparajita" panose="02020603050405020304" pitchFamily="18" charset="0"/>
                <a:cs typeface="Aparajita" panose="02020603050405020304" pitchFamily="18" charset="0"/>
              </a:rPr>
              <a:t>sort_values</a:t>
            </a:r>
            <a:r>
              <a:rPr lang="en-IN" sz="5600" dirty="0">
                <a:latin typeface="Aparajita" panose="02020603050405020304" pitchFamily="18" charset="0"/>
                <a:cs typeface="Aparajita" panose="02020603050405020304" pitchFamily="18" charset="0"/>
              </a:rPr>
              <a:t>("</a:t>
            </a:r>
            <a:r>
              <a:rPr lang="en-IN" sz="5600" dirty="0" err="1">
                <a:latin typeface="Aparajita" panose="02020603050405020304" pitchFamily="18" charset="0"/>
                <a:cs typeface="Aparajita" panose="02020603050405020304" pitchFamily="18" charset="0"/>
              </a:rPr>
              <a:t>Average_Yield</a:t>
            </a:r>
            <a:r>
              <a:rPr lang="en-IN" sz="5600" dirty="0">
                <a:latin typeface="Aparajita" panose="02020603050405020304" pitchFamily="18" charset="0"/>
                <a:cs typeface="Aparajita" panose="02020603050405020304" pitchFamily="18" charset="0"/>
              </a:rPr>
              <a:t>", ascending=False)</a:t>
            </a:r>
          </a:p>
          <a:p>
            <a:pPr marL="0" indent="0">
              <a:buNone/>
            </a:pPr>
            <a:r>
              <a:rPr lang="en-IN" sz="5600" dirty="0" err="1">
                <a:latin typeface="Aparajita" panose="02020603050405020304" pitchFamily="18" charset="0"/>
                <a:cs typeface="Aparajita" panose="02020603050405020304" pitchFamily="18" charset="0"/>
              </a:rPr>
              <a:t>state_performance.round</a:t>
            </a:r>
            <a:r>
              <a:rPr lang="en-IN" sz="5600" dirty="0">
                <a:latin typeface="Aparajita" panose="02020603050405020304" pitchFamily="18" charset="0"/>
                <a:cs typeface="Aparajita" panose="02020603050405020304" pitchFamily="18" charset="0"/>
              </a:rPr>
              <a:t>(2)</a:t>
            </a:r>
          </a:p>
          <a:p>
            <a:pPr marL="0" indent="0">
              <a:buNone/>
            </a:pPr>
            <a:r>
              <a:rPr lang="en-IN" sz="5600" dirty="0" err="1">
                <a:latin typeface="Aparajita" panose="02020603050405020304" pitchFamily="18" charset="0"/>
                <a:cs typeface="Aparajita" panose="02020603050405020304" pitchFamily="18" charset="0"/>
              </a:rPr>
              <a:t>top_states</a:t>
            </a:r>
            <a:r>
              <a:rPr lang="en-IN" sz="5600" dirty="0">
                <a:latin typeface="Aparajita" panose="02020603050405020304" pitchFamily="18" charset="0"/>
                <a:cs typeface="Aparajita" panose="02020603050405020304" pitchFamily="18" charset="0"/>
              </a:rPr>
              <a:t> = </a:t>
            </a:r>
            <a:r>
              <a:rPr lang="en-IN" sz="5600" dirty="0" err="1">
                <a:latin typeface="Aparajita" panose="02020603050405020304" pitchFamily="18" charset="0"/>
                <a:cs typeface="Aparajita" panose="02020603050405020304" pitchFamily="18" charset="0"/>
              </a:rPr>
              <a:t>state_performance.head</a:t>
            </a:r>
            <a:r>
              <a:rPr lang="en-IN" sz="5600" dirty="0">
                <a:latin typeface="Aparajita" panose="02020603050405020304" pitchFamily="18" charset="0"/>
                <a:cs typeface="Aparajita" panose="02020603050405020304" pitchFamily="18" charset="0"/>
              </a:rPr>
              <a:t>(10)</a:t>
            </a:r>
          </a:p>
          <a:p>
            <a:pPr marL="0" indent="0">
              <a:buNone/>
            </a:pPr>
            <a:endParaRPr lang="en-IN" dirty="0"/>
          </a:p>
        </p:txBody>
      </p:sp>
      <p:sp>
        <p:nvSpPr>
          <p:cNvPr id="2" name="TextBox 1">
            <a:extLst>
              <a:ext uri="{FF2B5EF4-FFF2-40B4-BE49-F238E27FC236}">
                <a16:creationId xmlns:a16="http://schemas.microsoft.com/office/drawing/2014/main" id="{5D771EEF-DB91-306B-4E98-0EDB207AE91A}"/>
              </a:ext>
            </a:extLst>
          </p:cNvPr>
          <p:cNvSpPr txBox="1"/>
          <p:nvPr/>
        </p:nvSpPr>
        <p:spPr>
          <a:xfrm>
            <a:off x="986309" y="4279828"/>
            <a:ext cx="4095993" cy="2862322"/>
          </a:xfrm>
          <a:prstGeom prst="rect">
            <a:avLst/>
          </a:prstGeom>
          <a:noFill/>
        </p:spPr>
        <p:txBody>
          <a:bodyPr wrap="none" rtlCol="0">
            <a:spAutoFit/>
          </a:bodyPr>
          <a:lstStyle/>
          <a:p>
            <a:r>
              <a:rPr lang="en-IN" dirty="0" err="1">
                <a:latin typeface="Aparajita" panose="02020603050405020304" pitchFamily="18" charset="0"/>
                <a:cs typeface="Aparajita" panose="02020603050405020304" pitchFamily="18" charset="0"/>
              </a:rPr>
              <a:t>top_states</a:t>
            </a:r>
            <a:r>
              <a:rPr lang="en-IN" dirty="0">
                <a:latin typeface="Aparajita" panose="02020603050405020304" pitchFamily="18" charset="0"/>
                <a:cs typeface="Aparajita" panose="02020603050405020304" pitchFamily="18" charset="0"/>
              </a:rPr>
              <a:t> = </a:t>
            </a:r>
            <a:r>
              <a:rPr lang="en-IN" dirty="0" err="1">
                <a:latin typeface="Aparajita" panose="02020603050405020304" pitchFamily="18" charset="0"/>
                <a:cs typeface="Aparajita" panose="02020603050405020304" pitchFamily="18" charset="0"/>
              </a:rPr>
              <a:t>state_performance.head</a:t>
            </a:r>
            <a:r>
              <a:rPr lang="en-IN" dirty="0">
                <a:latin typeface="Aparajita" panose="02020603050405020304" pitchFamily="18" charset="0"/>
                <a:cs typeface="Aparajita" panose="02020603050405020304" pitchFamily="18" charset="0"/>
              </a:rPr>
              <a:t>(10)</a:t>
            </a:r>
          </a:p>
          <a:p>
            <a:r>
              <a:rPr lang="en-IN" dirty="0" err="1">
                <a:latin typeface="Aparajita" panose="02020603050405020304" pitchFamily="18" charset="0"/>
                <a:cs typeface="Aparajita" panose="02020603050405020304" pitchFamily="18" charset="0"/>
              </a:rPr>
              <a:t>plt.figure</a:t>
            </a:r>
            <a:r>
              <a:rPr lang="en-IN" dirty="0">
                <a:latin typeface="Aparajita" panose="02020603050405020304" pitchFamily="18" charset="0"/>
                <a:cs typeface="Aparajita" panose="02020603050405020304" pitchFamily="18" charset="0"/>
              </a:rPr>
              <a:t>(</a:t>
            </a:r>
            <a:r>
              <a:rPr lang="en-IN" dirty="0" err="1">
                <a:latin typeface="Aparajita" panose="02020603050405020304" pitchFamily="18" charset="0"/>
                <a:cs typeface="Aparajita" panose="02020603050405020304" pitchFamily="18" charset="0"/>
              </a:rPr>
              <a:t>figsize</a:t>
            </a:r>
            <a:r>
              <a:rPr lang="en-IN" dirty="0">
                <a:latin typeface="Aparajita" panose="02020603050405020304" pitchFamily="18" charset="0"/>
                <a:cs typeface="Aparajita" panose="02020603050405020304" pitchFamily="18" charset="0"/>
              </a:rPr>
              <a:t>=(10, 5))</a:t>
            </a:r>
          </a:p>
          <a:p>
            <a:r>
              <a:rPr lang="en-IN" dirty="0" err="1">
                <a:latin typeface="Aparajita" panose="02020603050405020304" pitchFamily="18" charset="0"/>
                <a:cs typeface="Aparajita" panose="02020603050405020304" pitchFamily="18" charset="0"/>
              </a:rPr>
              <a:t>top_states</a:t>
            </a:r>
            <a:r>
              <a:rPr lang="en-IN" dirty="0">
                <a:latin typeface="Aparajita" panose="02020603050405020304" pitchFamily="18" charset="0"/>
                <a:cs typeface="Aparajita" panose="02020603050405020304" pitchFamily="18" charset="0"/>
              </a:rPr>
              <a:t>["</a:t>
            </a:r>
            <a:r>
              <a:rPr lang="en-IN" dirty="0" err="1">
                <a:latin typeface="Aparajita" panose="02020603050405020304" pitchFamily="18" charset="0"/>
                <a:cs typeface="Aparajita" panose="02020603050405020304" pitchFamily="18" charset="0"/>
              </a:rPr>
              <a:t>Average_Yield</a:t>
            </a:r>
            <a:r>
              <a:rPr lang="en-IN" dirty="0">
                <a:latin typeface="Aparajita" panose="02020603050405020304" pitchFamily="18" charset="0"/>
                <a:cs typeface="Aparajita" panose="02020603050405020304" pitchFamily="18" charset="0"/>
              </a:rPr>
              <a:t>"].plot(kind="bar")</a:t>
            </a:r>
          </a:p>
          <a:p>
            <a:r>
              <a:rPr lang="en-IN" dirty="0" err="1">
                <a:latin typeface="Aparajita" panose="02020603050405020304" pitchFamily="18" charset="0"/>
                <a:cs typeface="Aparajita" panose="02020603050405020304" pitchFamily="18" charset="0"/>
              </a:rPr>
              <a:t>plt.title</a:t>
            </a:r>
            <a:r>
              <a:rPr lang="en-IN" dirty="0">
                <a:latin typeface="Aparajita" panose="02020603050405020304" pitchFamily="18" charset="0"/>
                <a:cs typeface="Aparajita" panose="02020603050405020304" pitchFamily="18" charset="0"/>
              </a:rPr>
              <a:t>("Top States by Average Agricultural Yield")</a:t>
            </a:r>
          </a:p>
          <a:p>
            <a:r>
              <a:rPr lang="en-IN" dirty="0" err="1">
                <a:latin typeface="Aparajita" panose="02020603050405020304" pitchFamily="18" charset="0"/>
                <a:cs typeface="Aparajita" panose="02020603050405020304" pitchFamily="18" charset="0"/>
              </a:rPr>
              <a:t>plt.xlabel</a:t>
            </a:r>
            <a:r>
              <a:rPr lang="en-IN" dirty="0">
                <a:latin typeface="Aparajita" panose="02020603050405020304" pitchFamily="18" charset="0"/>
                <a:cs typeface="Aparajita" panose="02020603050405020304" pitchFamily="18" charset="0"/>
              </a:rPr>
              <a:t>("State")</a:t>
            </a:r>
          </a:p>
          <a:p>
            <a:r>
              <a:rPr lang="en-IN" dirty="0" err="1">
                <a:latin typeface="Aparajita" panose="02020603050405020304" pitchFamily="18" charset="0"/>
                <a:cs typeface="Aparajita" panose="02020603050405020304" pitchFamily="18" charset="0"/>
              </a:rPr>
              <a:t>plt.ylabel</a:t>
            </a:r>
            <a:r>
              <a:rPr lang="en-IN" dirty="0">
                <a:latin typeface="Aparajita" panose="02020603050405020304" pitchFamily="18" charset="0"/>
                <a:cs typeface="Aparajita" panose="02020603050405020304" pitchFamily="18" charset="0"/>
              </a:rPr>
              <a:t>("Average Yield (Tonnes/Ha)")</a:t>
            </a:r>
          </a:p>
          <a:p>
            <a:r>
              <a:rPr lang="en-IN" dirty="0" err="1">
                <a:latin typeface="Aparajita" panose="02020603050405020304" pitchFamily="18" charset="0"/>
                <a:cs typeface="Aparajita" panose="02020603050405020304" pitchFamily="18" charset="0"/>
              </a:rPr>
              <a:t>plt.xticks</a:t>
            </a:r>
            <a:r>
              <a:rPr lang="en-IN" dirty="0">
                <a:latin typeface="Aparajita" panose="02020603050405020304" pitchFamily="18" charset="0"/>
                <a:cs typeface="Aparajita" panose="02020603050405020304" pitchFamily="18" charset="0"/>
              </a:rPr>
              <a:t>(rotation=45)</a:t>
            </a:r>
          </a:p>
          <a:p>
            <a:r>
              <a:rPr lang="en-IN" dirty="0" err="1">
                <a:latin typeface="Aparajita" panose="02020603050405020304" pitchFamily="18" charset="0"/>
                <a:cs typeface="Aparajita" panose="02020603050405020304" pitchFamily="18" charset="0"/>
              </a:rPr>
              <a:t>plt.tight_layout</a:t>
            </a:r>
            <a:r>
              <a:rPr lang="en-IN" dirty="0">
                <a:latin typeface="Aparajita" panose="02020603050405020304" pitchFamily="18" charset="0"/>
                <a:cs typeface="Aparajita" panose="02020603050405020304" pitchFamily="18" charset="0"/>
              </a:rPr>
              <a:t>()</a:t>
            </a:r>
          </a:p>
          <a:p>
            <a:r>
              <a:rPr lang="en-IN" dirty="0" err="1">
                <a:latin typeface="Aparajita" panose="02020603050405020304" pitchFamily="18" charset="0"/>
                <a:cs typeface="Aparajita" panose="02020603050405020304" pitchFamily="18" charset="0"/>
              </a:rPr>
              <a:t>plt.show</a:t>
            </a:r>
            <a:r>
              <a:rPr lang="en-IN" dirty="0">
                <a:latin typeface="Aparajita" panose="02020603050405020304" pitchFamily="18" charset="0"/>
                <a:cs typeface="Aparajita" panose="02020603050405020304" pitchFamily="18" charset="0"/>
              </a:rPr>
              <a:t>()</a:t>
            </a:r>
          </a:p>
          <a:p>
            <a:endParaRPr lang="en-IN" dirty="0"/>
          </a:p>
        </p:txBody>
      </p:sp>
      <p:graphicFrame>
        <p:nvGraphicFramePr>
          <p:cNvPr id="3" name="Table 2">
            <a:extLst>
              <a:ext uri="{FF2B5EF4-FFF2-40B4-BE49-F238E27FC236}">
                <a16:creationId xmlns:a16="http://schemas.microsoft.com/office/drawing/2014/main" id="{8B681EA8-BA7B-6A31-B216-DDB410F61C77}"/>
              </a:ext>
            </a:extLst>
          </p:cNvPr>
          <p:cNvGraphicFramePr>
            <a:graphicFrameLocks noGrp="1"/>
          </p:cNvGraphicFramePr>
          <p:nvPr>
            <p:extLst>
              <p:ext uri="{D42A27DB-BD31-4B8C-83A1-F6EECF244321}">
                <p14:modId xmlns:p14="http://schemas.microsoft.com/office/powerpoint/2010/main" val="2552822173"/>
              </p:ext>
            </p:extLst>
          </p:nvPr>
        </p:nvGraphicFramePr>
        <p:xfrm>
          <a:off x="5392654" y="1281779"/>
          <a:ext cx="5896947" cy="2529840"/>
        </p:xfrm>
        <a:graphic>
          <a:graphicData uri="http://schemas.openxmlformats.org/drawingml/2006/table">
            <a:tbl>
              <a:tblPr>
                <a:tableStyleId>{6E25E649-3F16-4E02-A733-19D2CDBF48F0}</a:tableStyleId>
              </a:tblPr>
              <a:tblGrid>
                <a:gridCol w="1295945">
                  <a:extLst>
                    <a:ext uri="{9D8B030D-6E8A-4147-A177-3AD203B41FA5}">
                      <a16:colId xmlns:a16="http://schemas.microsoft.com/office/drawing/2014/main" val="925455954"/>
                    </a:ext>
                  </a:extLst>
                </a:gridCol>
                <a:gridCol w="946674">
                  <a:extLst>
                    <a:ext uri="{9D8B030D-6E8A-4147-A177-3AD203B41FA5}">
                      <a16:colId xmlns:a16="http://schemas.microsoft.com/office/drawing/2014/main" val="2547021054"/>
                    </a:ext>
                  </a:extLst>
                </a:gridCol>
                <a:gridCol w="1138335">
                  <a:extLst>
                    <a:ext uri="{9D8B030D-6E8A-4147-A177-3AD203B41FA5}">
                      <a16:colId xmlns:a16="http://schemas.microsoft.com/office/drawing/2014/main" val="1004958459"/>
                    </a:ext>
                  </a:extLst>
                </a:gridCol>
                <a:gridCol w="933061">
                  <a:extLst>
                    <a:ext uri="{9D8B030D-6E8A-4147-A177-3AD203B41FA5}">
                      <a16:colId xmlns:a16="http://schemas.microsoft.com/office/drawing/2014/main" val="3858581089"/>
                    </a:ext>
                  </a:extLst>
                </a:gridCol>
                <a:gridCol w="867747">
                  <a:extLst>
                    <a:ext uri="{9D8B030D-6E8A-4147-A177-3AD203B41FA5}">
                      <a16:colId xmlns:a16="http://schemas.microsoft.com/office/drawing/2014/main" val="1389693080"/>
                    </a:ext>
                  </a:extLst>
                </a:gridCol>
                <a:gridCol w="715185">
                  <a:extLst>
                    <a:ext uri="{9D8B030D-6E8A-4147-A177-3AD203B41FA5}">
                      <a16:colId xmlns:a16="http://schemas.microsoft.com/office/drawing/2014/main" val="2015477023"/>
                    </a:ext>
                  </a:extLst>
                </a:gridCol>
              </a:tblGrid>
              <a:tr h="1721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800" dirty="0">
                          <a:effectLst/>
                          <a:latin typeface="Arial Black" panose="020B0A04020102020204" pitchFamily="34" charset="0"/>
                          <a:cs typeface="Aparajita" panose="02020603050405020304" pitchFamily="18" charset="0"/>
                        </a:rPr>
                        <a:t>State</a:t>
                      </a:r>
                      <a:endParaRPr lang="en-IN" sz="800" b="1" i="0" dirty="0">
                        <a:solidFill>
                          <a:srgbClr val="E3E3E3"/>
                        </a:solidFill>
                        <a:effectLst/>
                        <a:latin typeface="Arial Black" panose="020B0A04020102020204" pitchFamily="34" charset="0"/>
                        <a:cs typeface="Aparajita" panose="02020603050405020304" pitchFamily="18" charset="0"/>
                      </a:endParaRPr>
                    </a:p>
                    <a:p>
                      <a:pPr algn="l">
                        <a:buNone/>
                      </a:pP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br>
                        <a:rPr lang="en-IN" sz="800" dirty="0">
                          <a:effectLst/>
                          <a:latin typeface="Arial Black" panose="020B0A04020102020204" pitchFamily="34" charset="0"/>
                          <a:cs typeface="Aparajita" panose="02020603050405020304" pitchFamily="18" charset="0"/>
                        </a:rPr>
                      </a:br>
                      <a:r>
                        <a:rPr lang="en-IN" sz="800" dirty="0" err="1">
                          <a:effectLst/>
                          <a:latin typeface="Arial Black" panose="020B0A04020102020204" pitchFamily="34" charset="0"/>
                          <a:cs typeface="Aparajita" panose="02020603050405020304" pitchFamily="18" charset="0"/>
                        </a:rPr>
                        <a:t>Average_Yield</a:t>
                      </a:r>
                      <a:endParaRPr lang="en-IN" sz="800" b="1" i="0" dirty="0">
                        <a:solidFill>
                          <a:srgbClr val="E3E3E3"/>
                        </a:solidFill>
                        <a:effectLst/>
                        <a:latin typeface="Arial Black" panose="020B0A04020102020204" pitchFamily="34" charset="0"/>
                        <a:cs typeface="Aparajita" panose="02020603050405020304" pitchFamily="18" charset="0"/>
                      </a:endParaRPr>
                    </a:p>
                    <a:p>
                      <a:pPr algn="l">
                        <a:buNone/>
                      </a:pP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Average_Profit</a:t>
                      </a:r>
                      <a:endParaRPr lang="en-IN" sz="800" b="1" i="0" dirty="0">
                        <a:solidFill>
                          <a:srgbClr val="E3E3E3"/>
                        </a:solidFill>
                        <a:effectLst/>
                        <a:latin typeface="Arial Black" panose="020B0A04020102020204" pitchFamily="34" charset="0"/>
                        <a:cs typeface="Aparajita" panose="02020603050405020304" pitchFamily="18" charset="0"/>
                      </a:endParaRPr>
                    </a:p>
                    <a:p>
                      <a:pPr algn="l"/>
                      <a:endParaRPr lang="en-IN" sz="800" dirty="0">
                        <a:latin typeface="Arial Black" panose="020B0A04020102020204" pitchFamily="34" charset="0"/>
                        <a:cs typeface="Aparajita" panose="02020603050405020304" pitchFamily="18" charset="0"/>
                      </a:endParaRPr>
                    </a:p>
                  </a:txBody>
                  <a:tcPr anchor="ctr"/>
                </a:tc>
                <a:tc>
                  <a:txBody>
                    <a:bodyPr/>
                    <a:lstStyle/>
                    <a:p>
                      <a:pPr algn="l">
                        <a:buNone/>
                      </a:pPr>
                      <a:r>
                        <a:rPr lang="en-IN" sz="800" dirty="0" err="1">
                          <a:effectLst/>
                          <a:latin typeface="Arial Black" panose="020B0A04020102020204" pitchFamily="34" charset="0"/>
                          <a:cs typeface="Aparajita" panose="02020603050405020304" pitchFamily="18" charset="0"/>
                        </a:rPr>
                        <a:t>Average_Revenue</a:t>
                      </a: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Average_Water_Efficiency</a:t>
                      </a:r>
                      <a:endParaRPr lang="en-IN" sz="800" b="1" i="0" dirty="0">
                        <a:solidFill>
                          <a:srgbClr val="E3E3E3"/>
                        </a:solidFill>
                        <a:effectLst/>
                        <a:latin typeface="Arial Black" panose="020B0A04020102020204" pitchFamily="34" charset="0"/>
                        <a:cs typeface="Aparajita" panose="02020603050405020304" pitchFamily="18" charset="0"/>
                      </a:endParaRPr>
                    </a:p>
                    <a:p>
                      <a:pPr algn="l">
                        <a:buNone/>
                      </a:pPr>
                      <a:endParaRPr lang="en-IN" sz="800" b="1" i="0" dirty="0">
                        <a:solidFill>
                          <a:srgbClr val="E3E3E3"/>
                        </a:solidFill>
                        <a:effectLst/>
                        <a:latin typeface="Arial Black" panose="020B0A04020102020204" pitchFamily="34" charset="0"/>
                        <a:cs typeface="Aparajita" panose="02020603050405020304" pitchFamily="18" charset="0"/>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800" dirty="0" err="1">
                          <a:effectLst/>
                          <a:latin typeface="Arial Black" panose="020B0A04020102020204" pitchFamily="34" charset="0"/>
                          <a:cs typeface="Aparajita" panose="02020603050405020304" pitchFamily="18" charset="0"/>
                        </a:rPr>
                        <a:t>Average_Risk</a:t>
                      </a:r>
                      <a:endParaRPr lang="en-IN" sz="800" b="1" i="0" dirty="0">
                        <a:solidFill>
                          <a:srgbClr val="E3E3E3"/>
                        </a:solidFill>
                        <a:effectLst/>
                        <a:latin typeface="Arial Black" panose="020B0A04020102020204" pitchFamily="34" charset="0"/>
                        <a:cs typeface="Aparajita" panose="02020603050405020304" pitchFamily="18" charset="0"/>
                      </a:endParaRPr>
                    </a:p>
                    <a:p>
                      <a:pPr algn="l"/>
                      <a:endParaRPr lang="en-IN" sz="800" dirty="0">
                        <a:latin typeface="Arial Black" panose="020B0A04020102020204" pitchFamily="34" charset="0"/>
                        <a:cs typeface="Aparajita" panose="02020603050405020304" pitchFamily="18" charset="0"/>
                      </a:endParaRPr>
                    </a:p>
                  </a:txBody>
                  <a:tcPr/>
                </a:tc>
                <a:extLst>
                  <a:ext uri="{0D108BD9-81ED-4DB2-BD59-A6C34878D82A}">
                    <a16:rowId xmlns:a16="http://schemas.microsoft.com/office/drawing/2014/main" val="1107163331"/>
                  </a:ext>
                </a:extLst>
              </a:tr>
              <a:tr h="153574">
                <a:tc>
                  <a:txBody>
                    <a:bodyPr/>
                    <a:lstStyle/>
                    <a:p>
                      <a:pPr algn="l" fontAlgn="ctr">
                        <a:buNone/>
                      </a:pPr>
                      <a:r>
                        <a:rPr lang="en-IN" sz="1000" dirty="0">
                          <a:effectLst/>
                        </a:rPr>
                        <a:t>Punjab</a:t>
                      </a:r>
                      <a:endParaRPr lang="en-IN" sz="1000" b="1" i="0" dirty="0">
                        <a:solidFill>
                          <a:srgbClr val="E3E3E3"/>
                        </a:solidFill>
                        <a:effectLst/>
                        <a:latin typeface="Google Sans Text"/>
                      </a:endParaRPr>
                    </a:p>
                  </a:txBody>
                  <a:tcPr anchor="ctr"/>
                </a:tc>
                <a:tc>
                  <a:txBody>
                    <a:bodyPr/>
                    <a:lstStyle/>
                    <a:p>
                      <a:pPr algn="r">
                        <a:buNone/>
                      </a:pPr>
                      <a:r>
                        <a:rPr lang="en-IN" sz="1000" dirty="0">
                          <a:effectLst/>
                        </a:rPr>
                        <a:t>6.12</a:t>
                      </a:r>
                      <a:endParaRPr lang="en-IN" sz="1000" b="0" i="0" dirty="0">
                        <a:solidFill>
                          <a:srgbClr val="E3E3E3"/>
                        </a:solidFill>
                        <a:effectLst/>
                        <a:latin typeface="Google Sans Text"/>
                      </a:endParaRPr>
                    </a:p>
                  </a:txBody>
                  <a:tcPr anchor="ctr"/>
                </a:tc>
                <a:tc>
                  <a:txBody>
                    <a:bodyPr/>
                    <a:lstStyle/>
                    <a:p>
                      <a:pPr algn="r">
                        <a:buNone/>
                      </a:pPr>
                      <a:r>
                        <a:rPr lang="en-IN" sz="1000">
                          <a:effectLst/>
                        </a:rPr>
                        <a:t>136,025.64</a:t>
                      </a:r>
                      <a:endParaRPr lang="en-IN" sz="1000" b="0" i="0">
                        <a:solidFill>
                          <a:srgbClr val="E3E3E3"/>
                        </a:solidFill>
                        <a:effectLst/>
                        <a:latin typeface="Google Sans Text"/>
                      </a:endParaRPr>
                    </a:p>
                  </a:txBody>
                  <a:tcPr anchor="ctr"/>
                </a:tc>
                <a:tc>
                  <a:txBody>
                    <a:bodyPr/>
                    <a:lstStyle/>
                    <a:p>
                      <a:pPr algn="r">
                        <a:buNone/>
                      </a:pPr>
                      <a:r>
                        <a:rPr lang="en-IN" sz="1000">
                          <a:effectLst/>
                        </a:rPr>
                        <a:t>686,225.70</a:t>
                      </a:r>
                      <a:endParaRPr lang="en-IN" sz="1000" b="0" i="0">
                        <a:solidFill>
                          <a:srgbClr val="E3E3E3"/>
                        </a:solidFill>
                        <a:effectLst/>
                        <a:latin typeface="Google Sans Text"/>
                      </a:endParaRPr>
                    </a:p>
                  </a:txBody>
                  <a:tcPr anchor="ctr"/>
                </a:tc>
                <a:tc>
                  <a:txBody>
                    <a:bodyPr/>
                    <a:lstStyle/>
                    <a:p>
                      <a:pPr algn="r">
                        <a:buNone/>
                      </a:pPr>
                      <a:r>
                        <a:rPr lang="en-IN" sz="1000">
                          <a:effectLst/>
                        </a:rPr>
                        <a:t>5.62</a:t>
                      </a:r>
                      <a:endParaRPr lang="en-IN" sz="1000" b="0" i="0">
                        <a:solidFill>
                          <a:srgbClr val="E3E3E3"/>
                        </a:solidFill>
                        <a:effectLst/>
                        <a:latin typeface="Google Sans Text"/>
                      </a:endParaRPr>
                    </a:p>
                  </a:txBody>
                  <a:tcPr anchor="ctr"/>
                </a:tc>
                <a:tc>
                  <a:txBody>
                    <a:bodyPr/>
                    <a:lstStyle/>
                    <a:p>
                      <a:pPr algn="r">
                        <a:buNone/>
                      </a:pPr>
                      <a:r>
                        <a:rPr lang="en-IN" sz="1000" dirty="0">
                          <a:effectLst/>
                        </a:rPr>
                        <a:t>46.00</a:t>
                      </a:r>
                      <a:endParaRPr lang="en-IN" sz="1000" b="0" i="0" dirty="0">
                        <a:solidFill>
                          <a:srgbClr val="E3E3E3"/>
                        </a:solidFill>
                        <a:effectLst/>
                        <a:latin typeface="Google Sans Text"/>
                      </a:endParaRPr>
                    </a:p>
                  </a:txBody>
                  <a:tcPr anchor="ctr"/>
                </a:tc>
                <a:extLst>
                  <a:ext uri="{0D108BD9-81ED-4DB2-BD59-A6C34878D82A}">
                    <a16:rowId xmlns:a16="http://schemas.microsoft.com/office/drawing/2014/main" val="2022826165"/>
                  </a:ext>
                </a:extLst>
              </a:tr>
              <a:tr h="153574">
                <a:tc>
                  <a:txBody>
                    <a:bodyPr/>
                    <a:lstStyle/>
                    <a:p>
                      <a:pPr algn="l" fontAlgn="ctr">
                        <a:buNone/>
                      </a:pPr>
                      <a:r>
                        <a:rPr lang="en-IN" sz="1000" dirty="0">
                          <a:effectLst/>
                        </a:rPr>
                        <a:t>Karnataka</a:t>
                      </a:r>
                      <a:endParaRPr lang="en-IN" sz="1000" b="1" i="0" dirty="0">
                        <a:solidFill>
                          <a:srgbClr val="E3E3E3"/>
                        </a:solidFill>
                        <a:effectLst/>
                        <a:latin typeface="Google Sans Text"/>
                      </a:endParaRPr>
                    </a:p>
                  </a:txBody>
                  <a:tcPr anchor="ctr"/>
                </a:tc>
                <a:tc>
                  <a:txBody>
                    <a:bodyPr/>
                    <a:lstStyle/>
                    <a:p>
                      <a:pPr algn="r">
                        <a:buNone/>
                      </a:pPr>
                      <a:r>
                        <a:rPr lang="en-IN" sz="1000" dirty="0">
                          <a:effectLst/>
                        </a:rPr>
                        <a:t>5.73</a:t>
                      </a:r>
                      <a:endParaRPr lang="en-IN" sz="1000" b="0" i="0" dirty="0">
                        <a:solidFill>
                          <a:srgbClr val="E3E3E3"/>
                        </a:solidFill>
                        <a:effectLst/>
                        <a:latin typeface="Google Sans Text"/>
                      </a:endParaRPr>
                    </a:p>
                  </a:txBody>
                  <a:tcPr anchor="ctr"/>
                </a:tc>
                <a:tc>
                  <a:txBody>
                    <a:bodyPr/>
                    <a:lstStyle/>
                    <a:p>
                      <a:pPr algn="r">
                        <a:buNone/>
                      </a:pPr>
                      <a:r>
                        <a:rPr lang="en-IN" sz="1000">
                          <a:effectLst/>
                        </a:rPr>
                        <a:t>119,422.34</a:t>
                      </a:r>
                      <a:endParaRPr lang="en-IN" sz="1000" b="0" i="0">
                        <a:solidFill>
                          <a:srgbClr val="E3E3E3"/>
                        </a:solidFill>
                        <a:effectLst/>
                        <a:latin typeface="Google Sans Text"/>
                      </a:endParaRPr>
                    </a:p>
                  </a:txBody>
                  <a:tcPr anchor="ctr"/>
                </a:tc>
                <a:tc>
                  <a:txBody>
                    <a:bodyPr/>
                    <a:lstStyle/>
                    <a:p>
                      <a:pPr algn="r">
                        <a:buNone/>
                      </a:pPr>
                      <a:r>
                        <a:rPr lang="en-IN" sz="1000">
                          <a:effectLst/>
                        </a:rPr>
                        <a:t>653,426.18</a:t>
                      </a:r>
                      <a:endParaRPr lang="en-IN" sz="1000" b="0" i="0">
                        <a:solidFill>
                          <a:srgbClr val="E3E3E3"/>
                        </a:solidFill>
                        <a:effectLst/>
                        <a:latin typeface="Google Sans Text"/>
                      </a:endParaRPr>
                    </a:p>
                  </a:txBody>
                  <a:tcPr anchor="ctr"/>
                </a:tc>
                <a:tc>
                  <a:txBody>
                    <a:bodyPr/>
                    <a:lstStyle/>
                    <a:p>
                      <a:pPr algn="r">
                        <a:buNone/>
                      </a:pPr>
                      <a:r>
                        <a:rPr lang="en-IN" sz="1000">
                          <a:effectLst/>
                        </a:rPr>
                        <a:t>5.56</a:t>
                      </a:r>
                      <a:endParaRPr lang="en-IN" sz="1000" b="0" i="0">
                        <a:solidFill>
                          <a:srgbClr val="E3E3E3"/>
                        </a:solidFill>
                        <a:effectLst/>
                        <a:latin typeface="Google Sans Text"/>
                      </a:endParaRPr>
                    </a:p>
                  </a:txBody>
                  <a:tcPr anchor="ctr"/>
                </a:tc>
                <a:tc>
                  <a:txBody>
                    <a:bodyPr/>
                    <a:lstStyle/>
                    <a:p>
                      <a:pPr algn="r">
                        <a:buNone/>
                      </a:pPr>
                      <a:r>
                        <a:rPr lang="en-IN" sz="1000">
                          <a:effectLst/>
                        </a:rPr>
                        <a:t>46.06</a:t>
                      </a:r>
                      <a:endParaRPr lang="en-IN" sz="1000" b="0" i="0">
                        <a:solidFill>
                          <a:srgbClr val="E3E3E3"/>
                        </a:solidFill>
                        <a:effectLst/>
                        <a:latin typeface="Google Sans Text"/>
                      </a:endParaRPr>
                    </a:p>
                  </a:txBody>
                  <a:tcPr anchor="ctr"/>
                </a:tc>
                <a:extLst>
                  <a:ext uri="{0D108BD9-81ED-4DB2-BD59-A6C34878D82A}">
                    <a16:rowId xmlns:a16="http://schemas.microsoft.com/office/drawing/2014/main" val="2473661554"/>
                  </a:ext>
                </a:extLst>
              </a:tr>
              <a:tr h="153574">
                <a:tc>
                  <a:txBody>
                    <a:bodyPr/>
                    <a:lstStyle/>
                    <a:p>
                      <a:pPr algn="l" fontAlgn="ctr">
                        <a:buNone/>
                      </a:pPr>
                      <a:r>
                        <a:rPr lang="en-IN" sz="1000">
                          <a:effectLst/>
                        </a:rPr>
                        <a:t>Gujarat</a:t>
                      </a:r>
                      <a:endParaRPr lang="en-IN" sz="1000" b="1" i="0">
                        <a:solidFill>
                          <a:srgbClr val="E3E3E3"/>
                        </a:solidFill>
                        <a:effectLst/>
                        <a:latin typeface="Google Sans Text"/>
                      </a:endParaRPr>
                    </a:p>
                  </a:txBody>
                  <a:tcPr anchor="ctr"/>
                </a:tc>
                <a:tc>
                  <a:txBody>
                    <a:bodyPr/>
                    <a:lstStyle/>
                    <a:p>
                      <a:pPr algn="r">
                        <a:buNone/>
                      </a:pPr>
                      <a:r>
                        <a:rPr lang="en-IN" sz="1000">
                          <a:effectLst/>
                        </a:rPr>
                        <a:t>5.70</a:t>
                      </a:r>
                      <a:endParaRPr lang="en-IN" sz="1000" b="0" i="0">
                        <a:solidFill>
                          <a:srgbClr val="E3E3E3"/>
                        </a:solidFill>
                        <a:effectLst/>
                        <a:latin typeface="Google Sans Text"/>
                      </a:endParaRPr>
                    </a:p>
                  </a:txBody>
                  <a:tcPr anchor="ctr"/>
                </a:tc>
                <a:tc>
                  <a:txBody>
                    <a:bodyPr/>
                    <a:lstStyle/>
                    <a:p>
                      <a:pPr algn="r">
                        <a:buNone/>
                      </a:pPr>
                      <a:r>
                        <a:rPr lang="en-IN" sz="1000">
                          <a:effectLst/>
                        </a:rPr>
                        <a:t>117,568.24</a:t>
                      </a:r>
                      <a:endParaRPr lang="en-IN" sz="1000" b="0" i="0">
                        <a:solidFill>
                          <a:srgbClr val="E3E3E3"/>
                        </a:solidFill>
                        <a:effectLst/>
                        <a:latin typeface="Google Sans Text"/>
                      </a:endParaRPr>
                    </a:p>
                  </a:txBody>
                  <a:tcPr anchor="ctr"/>
                </a:tc>
                <a:tc>
                  <a:txBody>
                    <a:bodyPr/>
                    <a:lstStyle/>
                    <a:p>
                      <a:pPr algn="r">
                        <a:buNone/>
                      </a:pPr>
                      <a:r>
                        <a:rPr lang="en-IN" sz="1000">
                          <a:effectLst/>
                        </a:rPr>
                        <a:t>654,692.86</a:t>
                      </a:r>
                      <a:endParaRPr lang="en-IN" sz="1000" b="0" i="0">
                        <a:solidFill>
                          <a:srgbClr val="E3E3E3"/>
                        </a:solidFill>
                        <a:effectLst/>
                        <a:latin typeface="Google Sans Text"/>
                      </a:endParaRPr>
                    </a:p>
                  </a:txBody>
                  <a:tcPr anchor="ctr"/>
                </a:tc>
                <a:tc>
                  <a:txBody>
                    <a:bodyPr/>
                    <a:lstStyle/>
                    <a:p>
                      <a:pPr algn="r">
                        <a:buNone/>
                      </a:pPr>
                      <a:r>
                        <a:rPr lang="en-IN" sz="1000">
                          <a:effectLst/>
                        </a:rPr>
                        <a:t>5.58</a:t>
                      </a:r>
                      <a:endParaRPr lang="en-IN" sz="1000" b="0" i="0">
                        <a:solidFill>
                          <a:srgbClr val="E3E3E3"/>
                        </a:solidFill>
                        <a:effectLst/>
                        <a:latin typeface="Google Sans Text"/>
                      </a:endParaRPr>
                    </a:p>
                  </a:txBody>
                  <a:tcPr anchor="ctr"/>
                </a:tc>
                <a:tc>
                  <a:txBody>
                    <a:bodyPr/>
                    <a:lstStyle/>
                    <a:p>
                      <a:pPr algn="r">
                        <a:buNone/>
                      </a:pPr>
                      <a:r>
                        <a:rPr lang="en-IN" sz="1000">
                          <a:effectLst/>
                        </a:rPr>
                        <a:t>45.95</a:t>
                      </a:r>
                      <a:endParaRPr lang="en-IN" sz="1000" b="0" i="0">
                        <a:solidFill>
                          <a:srgbClr val="E3E3E3"/>
                        </a:solidFill>
                        <a:effectLst/>
                        <a:latin typeface="Google Sans Text"/>
                      </a:endParaRPr>
                    </a:p>
                  </a:txBody>
                  <a:tcPr anchor="ctr"/>
                </a:tc>
                <a:extLst>
                  <a:ext uri="{0D108BD9-81ED-4DB2-BD59-A6C34878D82A}">
                    <a16:rowId xmlns:a16="http://schemas.microsoft.com/office/drawing/2014/main" val="1435910385"/>
                  </a:ext>
                </a:extLst>
              </a:tr>
              <a:tr h="153574">
                <a:tc>
                  <a:txBody>
                    <a:bodyPr/>
                    <a:lstStyle/>
                    <a:p>
                      <a:pPr algn="l" fontAlgn="ctr">
                        <a:buNone/>
                      </a:pPr>
                      <a:r>
                        <a:rPr lang="en-IN" sz="1000">
                          <a:effectLst/>
                        </a:rPr>
                        <a:t>Telangana</a:t>
                      </a:r>
                      <a:endParaRPr lang="en-IN" sz="1000" b="1" i="0">
                        <a:solidFill>
                          <a:srgbClr val="E3E3E3"/>
                        </a:solidFill>
                        <a:effectLst/>
                        <a:latin typeface="Google Sans Text"/>
                      </a:endParaRPr>
                    </a:p>
                  </a:txBody>
                  <a:tcPr anchor="ctr"/>
                </a:tc>
                <a:tc>
                  <a:txBody>
                    <a:bodyPr/>
                    <a:lstStyle/>
                    <a:p>
                      <a:pPr algn="r">
                        <a:buNone/>
                      </a:pPr>
                      <a:r>
                        <a:rPr lang="en-IN" sz="1000">
                          <a:effectLst/>
                        </a:rPr>
                        <a:t>5.08</a:t>
                      </a:r>
                      <a:endParaRPr lang="en-IN" sz="1000" b="0" i="0">
                        <a:solidFill>
                          <a:srgbClr val="E3E3E3"/>
                        </a:solidFill>
                        <a:effectLst/>
                        <a:latin typeface="Google Sans Text"/>
                      </a:endParaRPr>
                    </a:p>
                  </a:txBody>
                  <a:tcPr anchor="ctr"/>
                </a:tc>
                <a:tc>
                  <a:txBody>
                    <a:bodyPr/>
                    <a:lstStyle/>
                    <a:p>
                      <a:pPr algn="r">
                        <a:buNone/>
                      </a:pPr>
                      <a:r>
                        <a:rPr lang="en-IN" sz="1000">
                          <a:effectLst/>
                        </a:rPr>
                        <a:t>108,829.62</a:t>
                      </a:r>
                      <a:endParaRPr lang="en-IN" sz="1000" b="0" i="0">
                        <a:solidFill>
                          <a:srgbClr val="E3E3E3"/>
                        </a:solidFill>
                        <a:effectLst/>
                        <a:latin typeface="Google Sans Text"/>
                      </a:endParaRPr>
                    </a:p>
                  </a:txBody>
                  <a:tcPr anchor="ctr"/>
                </a:tc>
                <a:tc>
                  <a:txBody>
                    <a:bodyPr/>
                    <a:lstStyle/>
                    <a:p>
                      <a:pPr algn="r">
                        <a:buNone/>
                      </a:pPr>
                      <a:r>
                        <a:rPr lang="en-IN" sz="1000">
                          <a:effectLst/>
                        </a:rPr>
                        <a:t>628,784.53</a:t>
                      </a:r>
                      <a:endParaRPr lang="en-IN" sz="1000" b="0" i="0">
                        <a:solidFill>
                          <a:srgbClr val="E3E3E3"/>
                        </a:solidFill>
                        <a:effectLst/>
                        <a:latin typeface="Google Sans Text"/>
                      </a:endParaRPr>
                    </a:p>
                  </a:txBody>
                  <a:tcPr anchor="ctr"/>
                </a:tc>
                <a:tc>
                  <a:txBody>
                    <a:bodyPr/>
                    <a:lstStyle/>
                    <a:p>
                      <a:pPr algn="r">
                        <a:buNone/>
                      </a:pPr>
                      <a:r>
                        <a:rPr lang="en-IN" sz="1000">
                          <a:effectLst/>
                        </a:rPr>
                        <a:t>5.46</a:t>
                      </a:r>
                      <a:endParaRPr lang="en-IN" sz="1000" b="0" i="0">
                        <a:solidFill>
                          <a:srgbClr val="E3E3E3"/>
                        </a:solidFill>
                        <a:effectLst/>
                        <a:latin typeface="Google Sans Text"/>
                      </a:endParaRPr>
                    </a:p>
                  </a:txBody>
                  <a:tcPr anchor="ctr"/>
                </a:tc>
                <a:tc>
                  <a:txBody>
                    <a:bodyPr/>
                    <a:lstStyle/>
                    <a:p>
                      <a:pPr algn="r">
                        <a:buNone/>
                      </a:pPr>
                      <a:r>
                        <a:rPr lang="en-IN" sz="1000">
                          <a:effectLst/>
                        </a:rPr>
                        <a:t>46.36</a:t>
                      </a:r>
                      <a:endParaRPr lang="en-IN" sz="1000" b="0" i="0">
                        <a:solidFill>
                          <a:srgbClr val="E3E3E3"/>
                        </a:solidFill>
                        <a:effectLst/>
                        <a:latin typeface="Google Sans Text"/>
                      </a:endParaRPr>
                    </a:p>
                  </a:txBody>
                  <a:tcPr anchor="ctr"/>
                </a:tc>
                <a:extLst>
                  <a:ext uri="{0D108BD9-81ED-4DB2-BD59-A6C34878D82A}">
                    <a16:rowId xmlns:a16="http://schemas.microsoft.com/office/drawing/2014/main" val="2555959101"/>
                  </a:ext>
                </a:extLst>
              </a:tr>
              <a:tr h="153574">
                <a:tc>
                  <a:txBody>
                    <a:bodyPr/>
                    <a:lstStyle/>
                    <a:p>
                      <a:pPr algn="l" fontAlgn="ctr">
                        <a:buNone/>
                      </a:pPr>
                      <a:r>
                        <a:rPr lang="en-IN" sz="1000" dirty="0">
                          <a:effectLst/>
                        </a:rPr>
                        <a:t>Maharashtra</a:t>
                      </a:r>
                      <a:endParaRPr lang="en-IN" sz="1000" b="1" i="0" dirty="0">
                        <a:solidFill>
                          <a:srgbClr val="E3E3E3"/>
                        </a:solidFill>
                        <a:effectLst/>
                        <a:latin typeface="Google Sans Text"/>
                      </a:endParaRPr>
                    </a:p>
                  </a:txBody>
                  <a:tcPr anchor="ctr"/>
                </a:tc>
                <a:tc>
                  <a:txBody>
                    <a:bodyPr/>
                    <a:lstStyle/>
                    <a:p>
                      <a:pPr algn="r">
                        <a:buNone/>
                      </a:pPr>
                      <a:r>
                        <a:rPr lang="en-IN" sz="1000">
                          <a:effectLst/>
                        </a:rPr>
                        <a:t>5.03</a:t>
                      </a:r>
                      <a:endParaRPr lang="en-IN" sz="1000" b="0" i="0">
                        <a:solidFill>
                          <a:srgbClr val="E3E3E3"/>
                        </a:solidFill>
                        <a:effectLst/>
                        <a:latin typeface="Google Sans Text"/>
                      </a:endParaRPr>
                    </a:p>
                  </a:txBody>
                  <a:tcPr anchor="ctr"/>
                </a:tc>
                <a:tc>
                  <a:txBody>
                    <a:bodyPr/>
                    <a:lstStyle/>
                    <a:p>
                      <a:pPr algn="r">
                        <a:buNone/>
                      </a:pPr>
                      <a:r>
                        <a:rPr lang="en-IN" sz="1000">
                          <a:effectLst/>
                        </a:rPr>
                        <a:t>135,428.86</a:t>
                      </a:r>
                      <a:endParaRPr lang="en-IN" sz="1000" b="0" i="0">
                        <a:solidFill>
                          <a:srgbClr val="E3E3E3"/>
                        </a:solidFill>
                        <a:effectLst/>
                        <a:latin typeface="Google Sans Text"/>
                      </a:endParaRPr>
                    </a:p>
                  </a:txBody>
                  <a:tcPr anchor="ctr"/>
                </a:tc>
                <a:tc>
                  <a:txBody>
                    <a:bodyPr/>
                    <a:lstStyle/>
                    <a:p>
                      <a:pPr algn="r">
                        <a:buNone/>
                      </a:pPr>
                      <a:r>
                        <a:rPr lang="en-IN" sz="1000">
                          <a:effectLst/>
                        </a:rPr>
                        <a:t>650,032.67</a:t>
                      </a:r>
                      <a:endParaRPr lang="en-IN" sz="1000" b="0" i="0">
                        <a:solidFill>
                          <a:srgbClr val="E3E3E3"/>
                        </a:solidFill>
                        <a:effectLst/>
                        <a:latin typeface="Google Sans Text"/>
                      </a:endParaRPr>
                    </a:p>
                  </a:txBody>
                  <a:tcPr anchor="ctr"/>
                </a:tc>
                <a:tc>
                  <a:txBody>
                    <a:bodyPr/>
                    <a:lstStyle/>
                    <a:p>
                      <a:pPr algn="r">
                        <a:buNone/>
                      </a:pPr>
                      <a:r>
                        <a:rPr lang="en-IN" sz="1000">
                          <a:effectLst/>
                        </a:rPr>
                        <a:t>5.28</a:t>
                      </a:r>
                      <a:endParaRPr lang="en-IN" sz="1000" b="0" i="0">
                        <a:solidFill>
                          <a:srgbClr val="E3E3E3"/>
                        </a:solidFill>
                        <a:effectLst/>
                        <a:latin typeface="Google Sans Text"/>
                      </a:endParaRPr>
                    </a:p>
                  </a:txBody>
                  <a:tcPr anchor="ctr"/>
                </a:tc>
                <a:tc>
                  <a:txBody>
                    <a:bodyPr/>
                    <a:lstStyle/>
                    <a:p>
                      <a:pPr algn="r">
                        <a:buNone/>
                      </a:pPr>
                      <a:r>
                        <a:rPr lang="en-IN" sz="1000">
                          <a:effectLst/>
                        </a:rPr>
                        <a:t>46.44</a:t>
                      </a:r>
                      <a:endParaRPr lang="en-IN" sz="1000" b="0" i="0">
                        <a:solidFill>
                          <a:srgbClr val="E3E3E3"/>
                        </a:solidFill>
                        <a:effectLst/>
                        <a:latin typeface="Google Sans Text"/>
                      </a:endParaRPr>
                    </a:p>
                  </a:txBody>
                  <a:tcPr anchor="ctr"/>
                </a:tc>
                <a:extLst>
                  <a:ext uri="{0D108BD9-81ED-4DB2-BD59-A6C34878D82A}">
                    <a16:rowId xmlns:a16="http://schemas.microsoft.com/office/drawing/2014/main" val="2245510203"/>
                  </a:ext>
                </a:extLst>
              </a:tr>
              <a:tr h="153574">
                <a:tc>
                  <a:txBody>
                    <a:bodyPr/>
                    <a:lstStyle/>
                    <a:p>
                      <a:pPr algn="l" fontAlgn="ctr">
                        <a:buNone/>
                      </a:pPr>
                      <a:r>
                        <a:rPr lang="en-IN" sz="1000">
                          <a:effectLst/>
                        </a:rPr>
                        <a:t>Madhya Pradesh</a:t>
                      </a:r>
                      <a:endParaRPr lang="en-IN" sz="1000" b="1" i="0">
                        <a:solidFill>
                          <a:srgbClr val="E3E3E3"/>
                        </a:solidFill>
                        <a:effectLst/>
                        <a:latin typeface="Google Sans Text"/>
                      </a:endParaRPr>
                    </a:p>
                  </a:txBody>
                  <a:tcPr anchor="ctr"/>
                </a:tc>
                <a:tc>
                  <a:txBody>
                    <a:bodyPr/>
                    <a:lstStyle/>
                    <a:p>
                      <a:pPr algn="r">
                        <a:buNone/>
                      </a:pPr>
                      <a:r>
                        <a:rPr lang="en-IN" sz="1000">
                          <a:effectLst/>
                        </a:rPr>
                        <a:t>5.03</a:t>
                      </a:r>
                      <a:endParaRPr lang="en-IN" sz="1000" b="0" i="0">
                        <a:solidFill>
                          <a:srgbClr val="E3E3E3"/>
                        </a:solidFill>
                        <a:effectLst/>
                        <a:latin typeface="Google Sans Text"/>
                      </a:endParaRPr>
                    </a:p>
                  </a:txBody>
                  <a:tcPr anchor="ctr"/>
                </a:tc>
                <a:tc>
                  <a:txBody>
                    <a:bodyPr/>
                    <a:lstStyle/>
                    <a:p>
                      <a:pPr algn="r">
                        <a:buNone/>
                      </a:pPr>
                      <a:r>
                        <a:rPr lang="en-IN" sz="1000">
                          <a:effectLst/>
                        </a:rPr>
                        <a:t>86,840.76</a:t>
                      </a:r>
                      <a:endParaRPr lang="en-IN" sz="1000" b="0" i="0">
                        <a:solidFill>
                          <a:srgbClr val="E3E3E3"/>
                        </a:solidFill>
                        <a:effectLst/>
                        <a:latin typeface="Google Sans Text"/>
                      </a:endParaRPr>
                    </a:p>
                  </a:txBody>
                  <a:tcPr anchor="ctr"/>
                </a:tc>
                <a:tc>
                  <a:txBody>
                    <a:bodyPr/>
                    <a:lstStyle/>
                    <a:p>
                      <a:pPr algn="r">
                        <a:buNone/>
                      </a:pPr>
                      <a:r>
                        <a:rPr lang="en-IN" sz="1000">
                          <a:effectLst/>
                        </a:rPr>
                        <a:t>597,558.36</a:t>
                      </a:r>
                      <a:endParaRPr lang="en-IN" sz="1000" b="0" i="0">
                        <a:solidFill>
                          <a:srgbClr val="E3E3E3"/>
                        </a:solidFill>
                        <a:effectLst/>
                        <a:latin typeface="Google Sans Text"/>
                      </a:endParaRPr>
                    </a:p>
                  </a:txBody>
                  <a:tcPr anchor="ctr"/>
                </a:tc>
                <a:tc>
                  <a:txBody>
                    <a:bodyPr/>
                    <a:lstStyle/>
                    <a:p>
                      <a:pPr algn="r">
                        <a:buNone/>
                      </a:pPr>
                      <a:r>
                        <a:rPr lang="en-IN" sz="1000">
                          <a:effectLst/>
                        </a:rPr>
                        <a:t>5.27</a:t>
                      </a:r>
                      <a:endParaRPr lang="en-IN" sz="1000" b="0" i="0">
                        <a:solidFill>
                          <a:srgbClr val="E3E3E3"/>
                        </a:solidFill>
                        <a:effectLst/>
                        <a:latin typeface="Google Sans Text"/>
                      </a:endParaRPr>
                    </a:p>
                  </a:txBody>
                  <a:tcPr anchor="ctr"/>
                </a:tc>
                <a:tc>
                  <a:txBody>
                    <a:bodyPr/>
                    <a:lstStyle/>
                    <a:p>
                      <a:pPr algn="r">
                        <a:buNone/>
                      </a:pPr>
                      <a:r>
                        <a:rPr lang="en-IN" sz="1000">
                          <a:effectLst/>
                        </a:rPr>
                        <a:t>47.08</a:t>
                      </a:r>
                      <a:endParaRPr lang="en-IN" sz="1000" b="0" i="0">
                        <a:solidFill>
                          <a:srgbClr val="E3E3E3"/>
                        </a:solidFill>
                        <a:effectLst/>
                        <a:latin typeface="Google Sans Text"/>
                      </a:endParaRPr>
                    </a:p>
                  </a:txBody>
                  <a:tcPr anchor="ctr"/>
                </a:tc>
                <a:extLst>
                  <a:ext uri="{0D108BD9-81ED-4DB2-BD59-A6C34878D82A}">
                    <a16:rowId xmlns:a16="http://schemas.microsoft.com/office/drawing/2014/main" val="917375371"/>
                  </a:ext>
                </a:extLst>
              </a:tr>
              <a:tr h="153574">
                <a:tc>
                  <a:txBody>
                    <a:bodyPr/>
                    <a:lstStyle/>
                    <a:p>
                      <a:pPr algn="l" fontAlgn="ctr">
                        <a:buNone/>
                      </a:pPr>
                      <a:r>
                        <a:rPr lang="en-IN" sz="1000">
                          <a:effectLst/>
                        </a:rPr>
                        <a:t>Tamil Nadu</a:t>
                      </a:r>
                      <a:endParaRPr lang="en-IN" sz="1000" b="1" i="0">
                        <a:solidFill>
                          <a:srgbClr val="E3E3E3"/>
                        </a:solidFill>
                        <a:effectLst/>
                        <a:latin typeface="Google Sans Text"/>
                      </a:endParaRPr>
                    </a:p>
                  </a:txBody>
                  <a:tcPr anchor="ctr"/>
                </a:tc>
                <a:tc>
                  <a:txBody>
                    <a:bodyPr/>
                    <a:lstStyle/>
                    <a:p>
                      <a:pPr algn="r">
                        <a:buNone/>
                      </a:pPr>
                      <a:r>
                        <a:rPr lang="en-IN" sz="1000">
                          <a:effectLst/>
                        </a:rPr>
                        <a:t>4.90</a:t>
                      </a:r>
                      <a:endParaRPr lang="en-IN" sz="1000" b="0" i="0">
                        <a:solidFill>
                          <a:srgbClr val="E3E3E3"/>
                        </a:solidFill>
                        <a:effectLst/>
                        <a:latin typeface="Google Sans Text"/>
                      </a:endParaRPr>
                    </a:p>
                  </a:txBody>
                  <a:tcPr anchor="ctr"/>
                </a:tc>
                <a:tc>
                  <a:txBody>
                    <a:bodyPr/>
                    <a:lstStyle/>
                    <a:p>
                      <a:pPr algn="r">
                        <a:buNone/>
                      </a:pPr>
                      <a:r>
                        <a:rPr lang="en-IN" sz="1000">
                          <a:effectLst/>
                        </a:rPr>
                        <a:t>117,744.75</a:t>
                      </a:r>
                      <a:endParaRPr lang="en-IN" sz="1000" b="0" i="0">
                        <a:solidFill>
                          <a:srgbClr val="E3E3E3"/>
                        </a:solidFill>
                        <a:effectLst/>
                        <a:latin typeface="Google Sans Text"/>
                      </a:endParaRPr>
                    </a:p>
                  </a:txBody>
                  <a:tcPr anchor="ctr"/>
                </a:tc>
                <a:tc>
                  <a:txBody>
                    <a:bodyPr/>
                    <a:lstStyle/>
                    <a:p>
                      <a:pPr algn="r">
                        <a:buNone/>
                      </a:pPr>
                      <a:r>
                        <a:rPr lang="en-IN" sz="1000">
                          <a:effectLst/>
                        </a:rPr>
                        <a:t>629,093.42</a:t>
                      </a:r>
                      <a:endParaRPr lang="en-IN" sz="1000" b="0" i="0">
                        <a:solidFill>
                          <a:srgbClr val="E3E3E3"/>
                        </a:solidFill>
                        <a:effectLst/>
                        <a:latin typeface="Google Sans Text"/>
                      </a:endParaRPr>
                    </a:p>
                  </a:txBody>
                  <a:tcPr anchor="ctr"/>
                </a:tc>
                <a:tc>
                  <a:txBody>
                    <a:bodyPr/>
                    <a:lstStyle/>
                    <a:p>
                      <a:pPr algn="r">
                        <a:buNone/>
                      </a:pPr>
                      <a:r>
                        <a:rPr lang="en-IN" sz="1000">
                          <a:effectLst/>
                        </a:rPr>
                        <a:t>5.31</a:t>
                      </a:r>
                      <a:endParaRPr lang="en-IN" sz="1000" b="0" i="0">
                        <a:solidFill>
                          <a:srgbClr val="E3E3E3"/>
                        </a:solidFill>
                        <a:effectLst/>
                        <a:latin typeface="Google Sans Text"/>
                      </a:endParaRPr>
                    </a:p>
                  </a:txBody>
                  <a:tcPr anchor="ctr"/>
                </a:tc>
                <a:tc>
                  <a:txBody>
                    <a:bodyPr/>
                    <a:lstStyle/>
                    <a:p>
                      <a:pPr algn="r">
                        <a:buNone/>
                      </a:pPr>
                      <a:r>
                        <a:rPr lang="en-IN" sz="1000">
                          <a:effectLst/>
                        </a:rPr>
                        <a:t>46.28</a:t>
                      </a:r>
                      <a:endParaRPr lang="en-IN" sz="1000" b="0" i="0">
                        <a:solidFill>
                          <a:srgbClr val="E3E3E3"/>
                        </a:solidFill>
                        <a:effectLst/>
                        <a:latin typeface="Google Sans Text"/>
                      </a:endParaRPr>
                    </a:p>
                  </a:txBody>
                  <a:tcPr anchor="ctr"/>
                </a:tc>
                <a:extLst>
                  <a:ext uri="{0D108BD9-81ED-4DB2-BD59-A6C34878D82A}">
                    <a16:rowId xmlns:a16="http://schemas.microsoft.com/office/drawing/2014/main" val="3269451417"/>
                  </a:ext>
                </a:extLst>
              </a:tr>
              <a:tr h="153574">
                <a:tc>
                  <a:txBody>
                    <a:bodyPr/>
                    <a:lstStyle/>
                    <a:p>
                      <a:pPr algn="l" fontAlgn="ctr">
                        <a:buNone/>
                      </a:pPr>
                      <a:r>
                        <a:rPr lang="en-IN" sz="1000">
                          <a:effectLst/>
                        </a:rPr>
                        <a:t>Andhra Pradesh</a:t>
                      </a:r>
                      <a:endParaRPr lang="en-IN" sz="1000" b="1" i="0">
                        <a:solidFill>
                          <a:srgbClr val="E3E3E3"/>
                        </a:solidFill>
                        <a:effectLst/>
                        <a:latin typeface="Google Sans Text"/>
                      </a:endParaRPr>
                    </a:p>
                  </a:txBody>
                  <a:tcPr anchor="ctr"/>
                </a:tc>
                <a:tc>
                  <a:txBody>
                    <a:bodyPr/>
                    <a:lstStyle/>
                    <a:p>
                      <a:pPr algn="r">
                        <a:buNone/>
                      </a:pPr>
                      <a:r>
                        <a:rPr lang="en-IN" sz="1000">
                          <a:effectLst/>
                        </a:rPr>
                        <a:t>4.65</a:t>
                      </a:r>
                      <a:endParaRPr lang="en-IN" sz="1000" b="0" i="0">
                        <a:solidFill>
                          <a:srgbClr val="E3E3E3"/>
                        </a:solidFill>
                        <a:effectLst/>
                        <a:latin typeface="Google Sans Text"/>
                      </a:endParaRPr>
                    </a:p>
                  </a:txBody>
                  <a:tcPr anchor="ctr"/>
                </a:tc>
                <a:tc>
                  <a:txBody>
                    <a:bodyPr/>
                    <a:lstStyle/>
                    <a:p>
                      <a:pPr algn="r">
                        <a:buNone/>
                      </a:pPr>
                      <a:r>
                        <a:rPr lang="en-IN" sz="1000">
                          <a:effectLst/>
                        </a:rPr>
                        <a:t>73,453.53</a:t>
                      </a:r>
                      <a:endParaRPr lang="en-IN" sz="1000" b="0" i="0">
                        <a:solidFill>
                          <a:srgbClr val="E3E3E3"/>
                        </a:solidFill>
                        <a:effectLst/>
                        <a:latin typeface="Google Sans Text"/>
                      </a:endParaRPr>
                    </a:p>
                  </a:txBody>
                  <a:tcPr anchor="ctr"/>
                </a:tc>
                <a:tc>
                  <a:txBody>
                    <a:bodyPr/>
                    <a:lstStyle/>
                    <a:p>
                      <a:pPr algn="r">
                        <a:buNone/>
                      </a:pPr>
                      <a:r>
                        <a:rPr lang="en-IN" sz="1000">
                          <a:effectLst/>
                        </a:rPr>
                        <a:t>606,663.66</a:t>
                      </a:r>
                      <a:endParaRPr lang="en-IN" sz="1000" b="0" i="0">
                        <a:solidFill>
                          <a:srgbClr val="E3E3E3"/>
                        </a:solidFill>
                        <a:effectLst/>
                        <a:latin typeface="Google Sans Text"/>
                      </a:endParaRPr>
                    </a:p>
                  </a:txBody>
                  <a:tcPr anchor="ctr"/>
                </a:tc>
                <a:tc>
                  <a:txBody>
                    <a:bodyPr/>
                    <a:lstStyle/>
                    <a:p>
                      <a:pPr algn="r">
                        <a:buNone/>
                      </a:pPr>
                      <a:r>
                        <a:rPr lang="en-IN" sz="1000">
                          <a:effectLst/>
                        </a:rPr>
                        <a:t>5.03</a:t>
                      </a:r>
                      <a:endParaRPr lang="en-IN" sz="1000" b="0" i="0">
                        <a:solidFill>
                          <a:srgbClr val="E3E3E3"/>
                        </a:solidFill>
                        <a:effectLst/>
                        <a:latin typeface="Google Sans Text"/>
                      </a:endParaRPr>
                    </a:p>
                  </a:txBody>
                  <a:tcPr anchor="ctr"/>
                </a:tc>
                <a:tc>
                  <a:txBody>
                    <a:bodyPr/>
                    <a:lstStyle/>
                    <a:p>
                      <a:pPr algn="r">
                        <a:buNone/>
                      </a:pPr>
                      <a:r>
                        <a:rPr lang="en-IN" sz="1000" dirty="0">
                          <a:effectLst/>
                        </a:rPr>
                        <a:t>46.72</a:t>
                      </a:r>
                      <a:endParaRPr lang="en-IN" sz="1000" b="0" i="0" dirty="0">
                        <a:solidFill>
                          <a:srgbClr val="E3E3E3"/>
                        </a:solidFill>
                        <a:effectLst/>
                        <a:latin typeface="Google Sans Text"/>
                      </a:endParaRPr>
                    </a:p>
                  </a:txBody>
                  <a:tcPr anchor="ctr"/>
                </a:tc>
                <a:extLst>
                  <a:ext uri="{0D108BD9-81ED-4DB2-BD59-A6C34878D82A}">
                    <a16:rowId xmlns:a16="http://schemas.microsoft.com/office/drawing/2014/main" val="787289289"/>
                  </a:ext>
                </a:extLst>
              </a:tr>
            </a:tbl>
          </a:graphicData>
        </a:graphic>
      </p:graphicFrame>
      <p:pic>
        <p:nvPicPr>
          <p:cNvPr id="6" name="Picture 5">
            <a:extLst>
              <a:ext uri="{FF2B5EF4-FFF2-40B4-BE49-F238E27FC236}">
                <a16:creationId xmlns:a16="http://schemas.microsoft.com/office/drawing/2014/main" id="{446CE207-9961-A272-D3AD-F0B829C59188}"/>
              </a:ext>
            </a:extLst>
          </p:cNvPr>
          <p:cNvPicPr>
            <a:picLocks noChangeAspect="1"/>
          </p:cNvPicPr>
          <p:nvPr/>
        </p:nvPicPr>
        <p:blipFill>
          <a:blip r:embed="rId3"/>
          <a:stretch>
            <a:fillRect/>
          </a:stretch>
        </p:blipFill>
        <p:spPr>
          <a:xfrm>
            <a:off x="5392654" y="4201908"/>
            <a:ext cx="5165529" cy="255926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8" end="8"/>
                                            </p:txEl>
                                          </p:spTgt>
                                        </p:tgtEl>
                                        <p:attrNameLst>
                                          <p:attrName>style.visibility</p:attrName>
                                        </p:attrNameLst>
                                      </p:cBhvr>
                                      <p:to>
                                        <p:strVal val="visible"/>
                                      </p:to>
                                    </p:set>
                                    <p:animEffect transition="in" filter="fade">
                                      <p:cBhvr>
                                        <p:cTn id="84" dur="1000"/>
                                        <p:tgtEl>
                                          <p:spTgt spid="10">
                                            <p:txEl>
                                              <p:pRg st="8" end="8"/>
                                            </p:txEl>
                                          </p:spTgt>
                                        </p:tgtEl>
                                      </p:cBhvr>
                                    </p:animEffect>
                                    <p:anim calcmode="lin" valueType="num">
                                      <p:cBhvr>
                                        <p:cTn id="85"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latin typeface="Algerian" panose="04020705040A02060702" pitchFamily="82" charset="0"/>
              </a:rPr>
              <a:t>RESULTS </a:t>
            </a:r>
            <a:endParaRPr lang="en-IN" dirty="0">
              <a:latin typeface="Algerian" panose="04020705040A02060702" pitchFamily="82"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79171" y="1431693"/>
            <a:ext cx="4275138" cy="477520"/>
          </a:xfrm>
        </p:spPr>
        <p:txBody>
          <a:bodyPr>
            <a:normAutofit fontScale="25000" lnSpcReduction="20000"/>
          </a:bodyPr>
          <a:lstStyle/>
          <a:p>
            <a:pPr marL="0" indent="0">
              <a:buNone/>
            </a:pPr>
            <a:r>
              <a:rPr lang="en-IN" sz="7200" dirty="0"/>
              <a:t>Average Crop Yield Across Seasons</a:t>
            </a:r>
          </a:p>
          <a:p>
            <a:pPr marL="0" indent="0">
              <a:buNone/>
            </a:pPr>
            <a:r>
              <a:rPr lang="en-IN" sz="4000" dirty="0" err="1"/>
              <a:t>plt.figure</a:t>
            </a:r>
            <a:r>
              <a:rPr lang="en-IN" sz="4000" dirty="0"/>
              <a:t>(</a:t>
            </a:r>
            <a:r>
              <a:rPr lang="en-IN" sz="4000" dirty="0" err="1"/>
              <a:t>figsize</a:t>
            </a:r>
            <a:r>
              <a:rPr lang="en-IN" sz="4000" dirty="0"/>
              <a:t>=(10, 6))</a:t>
            </a:r>
          </a:p>
          <a:p>
            <a:pPr marL="0" indent="0">
              <a:buNone/>
            </a:pPr>
            <a:r>
              <a:rPr lang="en-IN" sz="4000" dirty="0" err="1"/>
              <a:t>plt.imshow</a:t>
            </a:r>
            <a:r>
              <a:rPr lang="en-IN" sz="4000" dirty="0"/>
              <a:t>(</a:t>
            </a:r>
            <a:r>
              <a:rPr lang="en-IN" sz="4000" dirty="0" err="1"/>
              <a:t>crop_season_yield</a:t>
            </a:r>
            <a:r>
              <a:rPr lang="en-IN" sz="4000" dirty="0"/>
              <a:t>, aspect="auto")</a:t>
            </a:r>
          </a:p>
          <a:p>
            <a:pPr marL="0" indent="0">
              <a:buNone/>
            </a:pPr>
            <a:r>
              <a:rPr lang="en-IN" sz="4000" dirty="0" err="1"/>
              <a:t>plt.colorbar</a:t>
            </a:r>
            <a:r>
              <a:rPr lang="en-IN" sz="4000" dirty="0"/>
              <a:t>(label="Average Yield (Tonnes/Ha)")</a:t>
            </a:r>
          </a:p>
          <a:p>
            <a:pPr marL="0" indent="0">
              <a:buNone/>
            </a:pPr>
            <a:r>
              <a:rPr lang="en-IN" sz="4000" dirty="0" err="1"/>
              <a:t>plt.xticks</a:t>
            </a:r>
            <a:r>
              <a:rPr lang="en-IN" sz="4000" dirty="0"/>
              <a:t>(</a:t>
            </a:r>
          </a:p>
          <a:p>
            <a:pPr marL="0" indent="0">
              <a:buNone/>
            </a:pPr>
            <a:r>
              <a:rPr lang="en-IN" sz="4000" dirty="0"/>
              <a:t>    range(</a:t>
            </a:r>
            <a:r>
              <a:rPr lang="en-IN" sz="4000" dirty="0" err="1"/>
              <a:t>len</a:t>
            </a:r>
            <a:r>
              <a:rPr lang="en-IN" sz="4000" dirty="0"/>
              <a:t>(</a:t>
            </a:r>
            <a:r>
              <a:rPr lang="en-IN" sz="4000" dirty="0" err="1"/>
              <a:t>crop_season_yield.columns</a:t>
            </a:r>
            <a:r>
              <a:rPr lang="en-IN" sz="4000" dirty="0"/>
              <a:t>)),</a:t>
            </a:r>
          </a:p>
          <a:p>
            <a:pPr marL="0" indent="0">
              <a:buNone/>
            </a:pPr>
            <a:r>
              <a:rPr lang="en-IN" sz="4000" dirty="0"/>
              <a:t>    </a:t>
            </a:r>
            <a:r>
              <a:rPr lang="en-IN" sz="4000" dirty="0" err="1"/>
              <a:t>crop_season_yield.columns</a:t>
            </a:r>
            <a:endParaRPr lang="en-IN" sz="4000" dirty="0"/>
          </a:p>
          <a:p>
            <a:pPr marL="0" indent="0">
              <a:buNone/>
            </a:pPr>
            <a:r>
              <a:rPr lang="en-IN" sz="4000" dirty="0"/>
              <a:t>)</a:t>
            </a:r>
          </a:p>
          <a:p>
            <a:pPr marL="0" indent="0">
              <a:buNone/>
            </a:pPr>
            <a:r>
              <a:rPr lang="en-IN" sz="4000" dirty="0" err="1"/>
              <a:t>plt.yticks</a:t>
            </a:r>
            <a:r>
              <a:rPr lang="en-IN" sz="4000" dirty="0"/>
              <a:t>(</a:t>
            </a:r>
          </a:p>
          <a:p>
            <a:pPr marL="0" indent="0">
              <a:buNone/>
            </a:pPr>
            <a:r>
              <a:rPr lang="en-IN" sz="4000" dirty="0"/>
              <a:t>    range(</a:t>
            </a:r>
            <a:r>
              <a:rPr lang="en-IN" sz="4000" dirty="0" err="1"/>
              <a:t>len</a:t>
            </a:r>
            <a:r>
              <a:rPr lang="en-IN" sz="4000" dirty="0"/>
              <a:t>(</a:t>
            </a:r>
            <a:r>
              <a:rPr lang="en-IN" sz="4000" dirty="0" err="1"/>
              <a:t>crop_season_yield.index</a:t>
            </a:r>
            <a:r>
              <a:rPr lang="en-IN" sz="4000" dirty="0"/>
              <a:t>)),</a:t>
            </a:r>
          </a:p>
          <a:p>
            <a:pPr marL="0" indent="0">
              <a:buNone/>
            </a:pPr>
            <a:r>
              <a:rPr lang="en-IN" sz="4000" dirty="0"/>
              <a:t>    </a:t>
            </a:r>
            <a:r>
              <a:rPr lang="en-IN" sz="4000" dirty="0" err="1"/>
              <a:t>crop_season_yield.index</a:t>
            </a:r>
            <a:endParaRPr lang="en-IN" sz="4000" dirty="0"/>
          </a:p>
          <a:p>
            <a:pPr marL="0" indent="0">
              <a:buNone/>
            </a:pPr>
            <a:r>
              <a:rPr lang="en-IN" sz="4000" dirty="0"/>
              <a:t>)</a:t>
            </a:r>
          </a:p>
          <a:p>
            <a:pPr marL="0" indent="0">
              <a:buNone/>
            </a:pPr>
            <a:r>
              <a:rPr lang="en-IN" sz="4000" dirty="0" err="1"/>
              <a:t>plt.title</a:t>
            </a:r>
            <a:r>
              <a:rPr lang="en-IN" sz="4000" dirty="0"/>
              <a:t>("Average Crop Yield Across Seasons")</a:t>
            </a:r>
          </a:p>
          <a:p>
            <a:pPr marL="0" indent="0">
              <a:buNone/>
            </a:pPr>
            <a:r>
              <a:rPr lang="en-IN" sz="4000" dirty="0" err="1"/>
              <a:t>plt.xlabel</a:t>
            </a:r>
            <a:r>
              <a:rPr lang="en-IN" sz="4000" dirty="0"/>
              <a:t>("Season")</a:t>
            </a:r>
          </a:p>
          <a:p>
            <a:pPr marL="0" indent="0">
              <a:buNone/>
            </a:pPr>
            <a:r>
              <a:rPr lang="en-IN" sz="4000" dirty="0" err="1"/>
              <a:t>plt.ylabel</a:t>
            </a:r>
            <a:r>
              <a:rPr lang="en-IN" sz="4000" dirty="0"/>
              <a:t>("Crop")</a:t>
            </a:r>
          </a:p>
          <a:p>
            <a:pPr marL="0" indent="0">
              <a:buNone/>
            </a:pPr>
            <a:r>
              <a:rPr lang="en-IN" sz="4000" dirty="0" err="1"/>
              <a:t>plt.tight_layout</a:t>
            </a:r>
            <a:r>
              <a:rPr lang="en-IN" sz="4000" dirty="0"/>
              <a:t>()</a:t>
            </a:r>
          </a:p>
          <a:p>
            <a:pPr marL="0" indent="0">
              <a:buNone/>
            </a:pPr>
            <a:r>
              <a:rPr lang="en-IN" sz="4000" dirty="0" err="1"/>
              <a:t>plt.show</a:t>
            </a:r>
            <a:r>
              <a:rPr lang="en-IN" sz="4000" dirty="0"/>
              <a:t>()</a:t>
            </a:r>
          </a:p>
          <a:p>
            <a:pPr marL="0" indent="0">
              <a:buNone/>
            </a:pPr>
            <a:endParaRPr lang="en-IN" sz="1000" dirty="0"/>
          </a:p>
        </p:txBody>
      </p:sp>
      <p:pic>
        <p:nvPicPr>
          <p:cNvPr id="2" name="Picture 1">
            <a:extLst>
              <a:ext uri="{FF2B5EF4-FFF2-40B4-BE49-F238E27FC236}">
                <a16:creationId xmlns:a16="http://schemas.microsoft.com/office/drawing/2014/main" id="{0113DE2E-B822-84F8-9CAF-706027EA656F}"/>
              </a:ext>
            </a:extLst>
          </p:cNvPr>
          <p:cNvPicPr>
            <a:picLocks noChangeAspect="1"/>
          </p:cNvPicPr>
          <p:nvPr/>
        </p:nvPicPr>
        <p:blipFill>
          <a:blip r:embed="rId3"/>
          <a:stretch>
            <a:fillRect/>
          </a:stretch>
        </p:blipFill>
        <p:spPr>
          <a:xfrm>
            <a:off x="4730620" y="1275371"/>
            <a:ext cx="5030797" cy="407446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8" end="8"/>
                                            </p:txEl>
                                          </p:spTgt>
                                        </p:tgtEl>
                                        <p:attrNameLst>
                                          <p:attrName>style.visibility</p:attrName>
                                        </p:attrNameLst>
                                      </p:cBhvr>
                                      <p:to>
                                        <p:strVal val="visible"/>
                                      </p:to>
                                    </p:set>
                                    <p:animEffect transition="in" filter="fade">
                                      <p:cBhvr>
                                        <p:cTn id="84" dur="1000"/>
                                        <p:tgtEl>
                                          <p:spTgt spid="10">
                                            <p:txEl>
                                              <p:pRg st="8" end="8"/>
                                            </p:txEl>
                                          </p:spTgt>
                                        </p:tgtEl>
                                      </p:cBhvr>
                                    </p:animEffect>
                                    <p:anim calcmode="lin" valueType="num">
                                      <p:cBhvr>
                                        <p:cTn id="85"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9" end="9"/>
                                            </p:txEl>
                                          </p:spTgt>
                                        </p:tgtEl>
                                        <p:attrNameLst>
                                          <p:attrName>style.visibility</p:attrName>
                                        </p:attrNameLst>
                                      </p:cBhvr>
                                      <p:to>
                                        <p:strVal val="visible"/>
                                      </p:to>
                                    </p:set>
                                    <p:animEffect transition="in" filter="fade">
                                      <p:cBhvr>
                                        <p:cTn id="91" dur="1000"/>
                                        <p:tgtEl>
                                          <p:spTgt spid="10">
                                            <p:txEl>
                                              <p:pRg st="9" end="9"/>
                                            </p:txEl>
                                          </p:spTgt>
                                        </p:tgtEl>
                                      </p:cBhvr>
                                    </p:animEffect>
                                    <p:anim calcmode="lin" valueType="num">
                                      <p:cBhvr>
                                        <p:cTn id="92"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0" end="10"/>
                                            </p:txEl>
                                          </p:spTgt>
                                        </p:tgtEl>
                                        <p:attrNameLst>
                                          <p:attrName>style.visibility</p:attrName>
                                        </p:attrNameLst>
                                      </p:cBhvr>
                                      <p:to>
                                        <p:strVal val="visible"/>
                                      </p:to>
                                    </p:set>
                                    <p:animEffect transition="in" filter="fade">
                                      <p:cBhvr>
                                        <p:cTn id="98" dur="1000"/>
                                        <p:tgtEl>
                                          <p:spTgt spid="10">
                                            <p:txEl>
                                              <p:pRg st="10" end="10"/>
                                            </p:txEl>
                                          </p:spTgt>
                                        </p:tgtEl>
                                      </p:cBhvr>
                                    </p:animEffect>
                                    <p:anim calcmode="lin" valueType="num">
                                      <p:cBhvr>
                                        <p:cTn id="99"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0">
                                            <p:txEl>
                                              <p:pRg st="11" end="11"/>
                                            </p:txEl>
                                          </p:spTgt>
                                        </p:tgtEl>
                                        <p:attrNameLst>
                                          <p:attrName>style.visibility</p:attrName>
                                        </p:attrNameLst>
                                      </p:cBhvr>
                                      <p:to>
                                        <p:strVal val="visible"/>
                                      </p:to>
                                    </p:set>
                                    <p:animEffect transition="in" filter="fade">
                                      <p:cBhvr>
                                        <p:cTn id="105" dur="1000"/>
                                        <p:tgtEl>
                                          <p:spTgt spid="10">
                                            <p:txEl>
                                              <p:pRg st="11" end="11"/>
                                            </p:txEl>
                                          </p:spTgt>
                                        </p:tgtEl>
                                      </p:cBhvr>
                                    </p:animEffect>
                                    <p:anim calcmode="lin" valueType="num">
                                      <p:cBhvr>
                                        <p:cTn id="106"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107"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10">
                                            <p:txEl>
                                              <p:pRg st="12" end="12"/>
                                            </p:txEl>
                                          </p:spTgt>
                                        </p:tgtEl>
                                        <p:attrNameLst>
                                          <p:attrName>style.visibility</p:attrName>
                                        </p:attrNameLst>
                                      </p:cBhvr>
                                      <p:to>
                                        <p:strVal val="visible"/>
                                      </p:to>
                                    </p:set>
                                    <p:animEffect transition="in" filter="fade">
                                      <p:cBhvr>
                                        <p:cTn id="112" dur="1000"/>
                                        <p:tgtEl>
                                          <p:spTgt spid="10">
                                            <p:txEl>
                                              <p:pRg st="12" end="12"/>
                                            </p:txEl>
                                          </p:spTgt>
                                        </p:tgtEl>
                                      </p:cBhvr>
                                    </p:animEffect>
                                    <p:anim calcmode="lin" valueType="num">
                                      <p:cBhvr>
                                        <p:cTn id="113" dur="1000" fill="hold"/>
                                        <p:tgtEl>
                                          <p:spTgt spid="10">
                                            <p:txEl>
                                              <p:pRg st="12" end="12"/>
                                            </p:txEl>
                                          </p:spTgt>
                                        </p:tgtEl>
                                        <p:attrNameLst>
                                          <p:attrName>ppt_x</p:attrName>
                                        </p:attrNameLst>
                                      </p:cBhvr>
                                      <p:tavLst>
                                        <p:tav tm="0">
                                          <p:val>
                                            <p:strVal val="#ppt_x"/>
                                          </p:val>
                                        </p:tav>
                                        <p:tav tm="100000">
                                          <p:val>
                                            <p:strVal val="#ppt_x"/>
                                          </p:val>
                                        </p:tav>
                                      </p:tavLst>
                                    </p:anim>
                                    <p:anim calcmode="lin" valueType="num">
                                      <p:cBhvr>
                                        <p:cTn id="114" dur="1000" fill="hold"/>
                                        <p:tgtEl>
                                          <p:spTgt spid="10">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0">
                                            <p:txEl>
                                              <p:pRg st="13" end="13"/>
                                            </p:txEl>
                                          </p:spTgt>
                                        </p:tgtEl>
                                        <p:attrNameLst>
                                          <p:attrName>style.visibility</p:attrName>
                                        </p:attrNameLst>
                                      </p:cBhvr>
                                      <p:to>
                                        <p:strVal val="visible"/>
                                      </p:to>
                                    </p:set>
                                    <p:animEffect transition="in" filter="fade">
                                      <p:cBhvr>
                                        <p:cTn id="119" dur="1000"/>
                                        <p:tgtEl>
                                          <p:spTgt spid="10">
                                            <p:txEl>
                                              <p:pRg st="13" end="13"/>
                                            </p:txEl>
                                          </p:spTgt>
                                        </p:tgtEl>
                                      </p:cBhvr>
                                    </p:animEffect>
                                    <p:anim calcmode="lin" valueType="num">
                                      <p:cBhvr>
                                        <p:cTn id="120" dur="1000" fill="hold"/>
                                        <p:tgtEl>
                                          <p:spTgt spid="10">
                                            <p:txEl>
                                              <p:pRg st="13" end="13"/>
                                            </p:txEl>
                                          </p:spTgt>
                                        </p:tgtEl>
                                        <p:attrNameLst>
                                          <p:attrName>ppt_x</p:attrName>
                                        </p:attrNameLst>
                                      </p:cBhvr>
                                      <p:tavLst>
                                        <p:tav tm="0">
                                          <p:val>
                                            <p:strVal val="#ppt_x"/>
                                          </p:val>
                                        </p:tav>
                                        <p:tav tm="100000">
                                          <p:val>
                                            <p:strVal val="#ppt_x"/>
                                          </p:val>
                                        </p:tav>
                                      </p:tavLst>
                                    </p:anim>
                                    <p:anim calcmode="lin" valueType="num">
                                      <p:cBhvr>
                                        <p:cTn id="121" dur="1000" fill="hold"/>
                                        <p:tgtEl>
                                          <p:spTgt spid="10">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10">
                                            <p:txEl>
                                              <p:pRg st="14" end="14"/>
                                            </p:txEl>
                                          </p:spTgt>
                                        </p:tgtEl>
                                        <p:attrNameLst>
                                          <p:attrName>style.visibility</p:attrName>
                                        </p:attrNameLst>
                                      </p:cBhvr>
                                      <p:to>
                                        <p:strVal val="visible"/>
                                      </p:to>
                                    </p:set>
                                    <p:animEffect transition="in" filter="fade">
                                      <p:cBhvr>
                                        <p:cTn id="126" dur="1000"/>
                                        <p:tgtEl>
                                          <p:spTgt spid="10">
                                            <p:txEl>
                                              <p:pRg st="14" end="14"/>
                                            </p:txEl>
                                          </p:spTgt>
                                        </p:tgtEl>
                                      </p:cBhvr>
                                    </p:animEffect>
                                    <p:anim calcmode="lin" valueType="num">
                                      <p:cBhvr>
                                        <p:cTn id="127" dur="1000" fill="hold"/>
                                        <p:tgtEl>
                                          <p:spTgt spid="10">
                                            <p:txEl>
                                              <p:pRg st="14" end="14"/>
                                            </p:txEl>
                                          </p:spTgt>
                                        </p:tgtEl>
                                        <p:attrNameLst>
                                          <p:attrName>ppt_x</p:attrName>
                                        </p:attrNameLst>
                                      </p:cBhvr>
                                      <p:tavLst>
                                        <p:tav tm="0">
                                          <p:val>
                                            <p:strVal val="#ppt_x"/>
                                          </p:val>
                                        </p:tav>
                                        <p:tav tm="100000">
                                          <p:val>
                                            <p:strVal val="#ppt_x"/>
                                          </p:val>
                                        </p:tav>
                                      </p:tavLst>
                                    </p:anim>
                                    <p:anim calcmode="lin" valueType="num">
                                      <p:cBhvr>
                                        <p:cTn id="128" dur="1000" fill="hold"/>
                                        <p:tgtEl>
                                          <p:spTgt spid="10">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10">
                                            <p:txEl>
                                              <p:pRg st="15" end="15"/>
                                            </p:txEl>
                                          </p:spTgt>
                                        </p:tgtEl>
                                        <p:attrNameLst>
                                          <p:attrName>style.visibility</p:attrName>
                                        </p:attrNameLst>
                                      </p:cBhvr>
                                      <p:to>
                                        <p:strVal val="visible"/>
                                      </p:to>
                                    </p:set>
                                    <p:animEffect transition="in" filter="fade">
                                      <p:cBhvr>
                                        <p:cTn id="133" dur="1000"/>
                                        <p:tgtEl>
                                          <p:spTgt spid="10">
                                            <p:txEl>
                                              <p:pRg st="15" end="15"/>
                                            </p:txEl>
                                          </p:spTgt>
                                        </p:tgtEl>
                                      </p:cBhvr>
                                    </p:animEffect>
                                    <p:anim calcmode="lin" valueType="num">
                                      <p:cBhvr>
                                        <p:cTn id="134" dur="1000" fill="hold"/>
                                        <p:tgtEl>
                                          <p:spTgt spid="10">
                                            <p:txEl>
                                              <p:pRg st="15" end="15"/>
                                            </p:txEl>
                                          </p:spTgt>
                                        </p:tgtEl>
                                        <p:attrNameLst>
                                          <p:attrName>ppt_x</p:attrName>
                                        </p:attrNameLst>
                                      </p:cBhvr>
                                      <p:tavLst>
                                        <p:tav tm="0">
                                          <p:val>
                                            <p:strVal val="#ppt_x"/>
                                          </p:val>
                                        </p:tav>
                                        <p:tav tm="100000">
                                          <p:val>
                                            <p:strVal val="#ppt_x"/>
                                          </p:val>
                                        </p:tav>
                                      </p:tavLst>
                                    </p:anim>
                                    <p:anim calcmode="lin" valueType="num">
                                      <p:cBhvr>
                                        <p:cTn id="135" dur="1000" fill="hold"/>
                                        <p:tgtEl>
                                          <p:spTgt spid="10">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10">
                                            <p:txEl>
                                              <p:pRg st="16" end="16"/>
                                            </p:txEl>
                                          </p:spTgt>
                                        </p:tgtEl>
                                        <p:attrNameLst>
                                          <p:attrName>style.visibility</p:attrName>
                                        </p:attrNameLst>
                                      </p:cBhvr>
                                      <p:to>
                                        <p:strVal val="visible"/>
                                      </p:to>
                                    </p:set>
                                    <p:animEffect transition="in" filter="fade">
                                      <p:cBhvr>
                                        <p:cTn id="140" dur="1000"/>
                                        <p:tgtEl>
                                          <p:spTgt spid="10">
                                            <p:txEl>
                                              <p:pRg st="16" end="16"/>
                                            </p:txEl>
                                          </p:spTgt>
                                        </p:tgtEl>
                                      </p:cBhvr>
                                    </p:animEffect>
                                    <p:anim calcmode="lin" valueType="num">
                                      <p:cBhvr>
                                        <p:cTn id="141" dur="1000" fill="hold"/>
                                        <p:tgtEl>
                                          <p:spTgt spid="10">
                                            <p:txEl>
                                              <p:pRg st="16" end="16"/>
                                            </p:txEl>
                                          </p:spTgt>
                                        </p:tgtEl>
                                        <p:attrNameLst>
                                          <p:attrName>ppt_x</p:attrName>
                                        </p:attrNameLst>
                                      </p:cBhvr>
                                      <p:tavLst>
                                        <p:tav tm="0">
                                          <p:val>
                                            <p:strVal val="#ppt_x"/>
                                          </p:val>
                                        </p:tav>
                                        <p:tav tm="100000">
                                          <p:val>
                                            <p:strVal val="#ppt_x"/>
                                          </p:val>
                                        </p:tav>
                                      </p:tavLst>
                                    </p:anim>
                                    <p:anim calcmode="lin" valueType="num">
                                      <p:cBhvr>
                                        <p:cTn id="142" dur="1000" fill="hold"/>
                                        <p:tgtEl>
                                          <p:spTgt spid="10">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Algerian" panose="04020705040A02060702" pitchFamily="82" charset="0"/>
              </a:rPr>
              <a:t>RESULTS </a:t>
            </a:r>
            <a:endParaRPr lang="en-IN" dirty="0">
              <a:latin typeface="Algerian" panose="04020705040A02060702" pitchFamily="82"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30541" y="1463929"/>
            <a:ext cx="4275138" cy="477520"/>
          </a:xfrm>
        </p:spPr>
        <p:txBody>
          <a:bodyPr/>
          <a:lstStyle/>
          <a:p>
            <a:pPr marL="0" indent="0">
              <a:buNone/>
            </a:pPr>
            <a:r>
              <a:rPr lang="en-IN" dirty="0"/>
              <a:t>Statistical Analysis</a:t>
            </a:r>
          </a:p>
        </p:txBody>
      </p:sp>
      <p:pic>
        <p:nvPicPr>
          <p:cNvPr id="13" name="Picture 12">
            <a:extLst>
              <a:ext uri="{FF2B5EF4-FFF2-40B4-BE49-F238E27FC236}">
                <a16:creationId xmlns:a16="http://schemas.microsoft.com/office/drawing/2014/main" id="{E2306CED-F923-0773-22EB-1A519E5551F1}"/>
              </a:ext>
            </a:extLst>
          </p:cNvPr>
          <p:cNvPicPr>
            <a:picLocks noChangeAspect="1"/>
          </p:cNvPicPr>
          <p:nvPr/>
        </p:nvPicPr>
        <p:blipFill>
          <a:blip r:embed="rId3"/>
          <a:stretch>
            <a:fillRect/>
          </a:stretch>
        </p:blipFill>
        <p:spPr>
          <a:xfrm>
            <a:off x="675958" y="2015234"/>
            <a:ext cx="4275138" cy="372679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905101" y="557201"/>
            <a:ext cx="4735798" cy="830997"/>
          </a:xfrm>
        </p:spPr>
        <p:txBody>
          <a:bodyPr>
            <a:normAutofit/>
          </a:bodyPr>
          <a:lstStyle/>
          <a:p>
            <a:r>
              <a:rPr lang="en-IN" sz="4000" dirty="0">
                <a:latin typeface="Algerian" panose="04020705040A02060702" pitchFamily="82"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F28DF1F1-F2F3-43A0-D2C7-214379C2788C}"/>
              </a:ext>
            </a:extLst>
          </p:cNvPr>
          <p:cNvSpPr txBox="1"/>
          <p:nvPr/>
        </p:nvSpPr>
        <p:spPr>
          <a:xfrm>
            <a:off x="793101" y="1767006"/>
            <a:ext cx="7968848" cy="3323987"/>
          </a:xfrm>
          <a:prstGeom prst="rect">
            <a:avLst/>
          </a:prstGeom>
          <a:noFill/>
        </p:spPr>
        <p:txBody>
          <a:bodyPr wrap="none" rtlCol="0">
            <a:spAutoFit/>
          </a:bodyPr>
          <a:lstStyle/>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Develop an interactive agricultural dashboard using Power BI or </a:t>
            </a:r>
            <a:r>
              <a:rPr lang="en-IN" sz="2400" dirty="0" err="1">
                <a:latin typeface="Aparajita" panose="02020603050405020304" pitchFamily="18" charset="0"/>
                <a:cs typeface="Aparajita" panose="02020603050405020304" pitchFamily="18" charset="0"/>
              </a:rPr>
              <a:t>Streamlit</a:t>
            </a:r>
            <a:r>
              <a:rPr lang="en-IN" sz="2400" dirty="0">
                <a:latin typeface="Aparajita" panose="02020603050405020304" pitchFamily="18" charset="0"/>
                <a:cs typeface="Aparajita" panose="02020603050405020304" pitchFamily="18" charset="0"/>
              </a:rPr>
              <a:t>. </a:t>
            </a:r>
          </a:p>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Integrate real-time weather and environmental data. </a:t>
            </a:r>
          </a:p>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Build predictive models for crop yield forecasting. </a:t>
            </a:r>
          </a:p>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Develop seasonal crop recommendation systems. </a:t>
            </a:r>
          </a:p>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Add real-time market price information. </a:t>
            </a:r>
          </a:p>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Expand the analysis to more regions and agricultural datasets. </a:t>
            </a:r>
          </a:p>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Develop early-warning systems for disease, pest and environmental risks. </a:t>
            </a:r>
          </a:p>
          <a:p>
            <a:pPr marL="285750" lvl="0" indent="-285750">
              <a:buFont typeface="Arial" panose="020B0604020202020204" pitchFamily="34" charset="0"/>
              <a:buChar char="•"/>
            </a:pPr>
            <a:r>
              <a:rPr lang="en-IN" sz="2400" dirty="0">
                <a:latin typeface="Aparajita" panose="02020603050405020304" pitchFamily="18" charset="0"/>
                <a:cs typeface="Aparajita" panose="02020603050405020304" pitchFamily="18" charset="0"/>
              </a:rPr>
              <a:t>Use machine learning to identify factors influencing crop performance.</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Algerian" panose="04020705040A02060702" pitchFamily="82"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IN" dirty="0" err="1">
                <a:hlinkClick r:id="rId3"/>
              </a:rPr>
              <a:t>Ratnakmri</a:t>
            </a:r>
            <a:r>
              <a:rPr lang="en-IN" dirty="0">
                <a:hlinkClick r:id="rId3"/>
              </a:rPr>
              <a:t>/Seasonal-Agriculture-Project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442692" y="346975"/>
            <a:ext cx="8351388" cy="884658"/>
          </a:xfrm>
        </p:spPr>
        <p:txBody>
          <a:bodyPr>
            <a:normAutofit fontScale="90000"/>
          </a:bodyPr>
          <a:lstStyle/>
          <a:p>
            <a:r>
              <a:rPr lang="en-IN" sz="3200" dirty="0">
                <a:latin typeface="Algerian" panose="04020705040A02060702" pitchFamily="82" charset="0"/>
              </a:rPr>
              <a:t>VOIS Course completion certificate - </a:t>
            </a:r>
            <a:br>
              <a:rPr lang="en-IN" sz="3200" dirty="0">
                <a:latin typeface="Algerian" panose="04020705040A02060702" pitchFamily="82" charset="0"/>
              </a:rPr>
            </a:br>
            <a:r>
              <a:rPr lang="en-IN" sz="3200" dirty="0">
                <a:latin typeface="Algerian" panose="04020705040A02060702" pitchFamily="82"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ADBBDA3-4084-54AD-BE25-8444199AE13F}"/>
              </a:ext>
            </a:extLst>
          </p:cNvPr>
          <p:cNvPicPr>
            <a:picLocks noChangeAspect="1"/>
          </p:cNvPicPr>
          <p:nvPr/>
        </p:nvPicPr>
        <p:blipFill>
          <a:blip r:embed="rId3"/>
          <a:stretch>
            <a:fillRect/>
          </a:stretch>
        </p:blipFill>
        <p:spPr>
          <a:xfrm>
            <a:off x="1474236" y="1608410"/>
            <a:ext cx="6954337" cy="490261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912401"/>
            <a:ext cx="11340000" cy="700114"/>
          </a:xfrm>
          <a:prstGeom prst="rect">
            <a:avLst/>
          </a:prstGeom>
        </p:spPr>
        <p:txBody>
          <a:bodyPr anchor="ctr">
            <a:noAutofit/>
          </a:bodyPr>
          <a:lstStyle/>
          <a:p>
            <a:pPr algn="ctr"/>
            <a:r>
              <a:rPr lang="en-US" sz="6000" b="1" dirty="0">
                <a:solidFill>
                  <a:schemeClr val="tx1"/>
                </a:solidFill>
                <a:latin typeface="Algerian" panose="04020705040A02060702" pitchFamily="82"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2499</TotalTime>
  <Words>1126</Words>
  <Application>Microsoft Office PowerPoint</Application>
  <PresentationFormat>Widescreen</PresentationFormat>
  <Paragraphs>200</Paragraphs>
  <Slides>14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Algerian</vt:lpstr>
      <vt:lpstr>Aparajita</vt:lpstr>
      <vt:lpstr>Arial</vt:lpstr>
      <vt:lpstr>Arial Black</vt:lpstr>
      <vt:lpstr>Calibri</vt:lpstr>
      <vt:lpstr>Google Sans Text</vt:lpstr>
      <vt:lpstr>Trebuchet MS</vt:lpstr>
      <vt:lpstr>Wingdings</vt:lpstr>
      <vt:lpstr>Wingdings 3</vt:lpstr>
      <vt:lpstr>Facet</vt:lpstr>
      <vt:lpstr>Project Title -Seasonal Agriculture    Performance Analysis </vt:lpstr>
      <vt:lpstr>PROBLEM  STATEMENT</vt:lpstr>
      <vt:lpstr>Seasonal Agriculture Performance Analysis is a data analytics project that examines how agricultural performance changes across Kharif, Rabi and Zaid seasons. The analysis uses 4,000 agricultural records containing 28 variables related to crop production, environmental conditions, farming practices, resource utilization and economic performance. The project includes data exploration, data quality checking, seasonal performance comparison, crop-level analysis, environmental analysis, resource utilization analysis, economic analysis, correlation analysis, statistical testing, regional analysis and outlier detection. The objective is to identify meaningful patterns and relationships in the data and develop evidence-based insights that can support better seasonal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Shershaah ~ yeh dil maange more</cp:lastModifiedBy>
  <cp:revision>99</cp:revision>
  <dcterms:created xsi:type="dcterms:W3CDTF">2021-07-11T13:13:15Z</dcterms:created>
  <dcterms:modified xsi:type="dcterms:W3CDTF">2026-09-20T08:29:35Z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